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34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685800"/>
            <a:ext cx="3291840" cy="22860"/>
          </a:xfrm>
          <a:prstGeom prst="rect">
            <a:avLst/>
          </a:prstGeom>
          <a:solidFill>
            <a:srgbClr val="30684A"/>
          </a:solidFill>
          <a:ln>
            <a:solidFill>
              <a:srgbClr val="306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92440" y="1005840"/>
            <a:ext cx="3291840" cy="22860"/>
          </a:xfrm>
          <a:prstGeom prst="rect">
            <a:avLst/>
          </a:prstGeom>
          <a:solidFill>
            <a:srgbClr val="30684A"/>
          </a:solidFill>
          <a:ln>
            <a:solidFill>
              <a:srgbClr val="306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412480" y="1325880"/>
            <a:ext cx="3291840" cy="22860"/>
          </a:xfrm>
          <a:prstGeom prst="rect">
            <a:avLst/>
          </a:prstGeom>
          <a:solidFill>
            <a:srgbClr val="30684A"/>
          </a:solidFill>
          <a:ln>
            <a:solidFill>
              <a:srgbClr val="306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32520" y="1645919"/>
            <a:ext cx="3291840" cy="22860"/>
          </a:xfrm>
          <a:prstGeom prst="rect">
            <a:avLst/>
          </a:prstGeom>
          <a:solidFill>
            <a:srgbClr val="30684A"/>
          </a:solidFill>
          <a:ln>
            <a:solidFill>
              <a:srgbClr val="306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1965960"/>
            <a:ext cx="3291840" cy="22860"/>
          </a:xfrm>
          <a:prstGeom prst="rect">
            <a:avLst/>
          </a:prstGeom>
          <a:solidFill>
            <a:srgbClr val="30684A"/>
          </a:solidFill>
          <a:ln>
            <a:solidFill>
              <a:srgbClr val="306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372600" y="2286000"/>
            <a:ext cx="3291840" cy="22860"/>
          </a:xfrm>
          <a:prstGeom prst="rect">
            <a:avLst/>
          </a:prstGeom>
          <a:solidFill>
            <a:srgbClr val="30684A"/>
          </a:solidFill>
          <a:ln>
            <a:solidFill>
              <a:srgbClr val="306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960120"/>
            <a:ext cx="6858000" cy="502920"/>
          </a:xfrm>
          <a:prstGeom prst="rect">
            <a:avLst/>
          </a:prstGeom>
          <a:noFill/>
        </p:spPr>
        <p:txBody>
          <a:bodyPr wrap="square" lIns="36576" rIns="36576" tIns="36576" bIns="36576" anchor="t">
            <a:spAutoFit/>
          </a:bodyPr>
          <a:lstStyle/>
          <a:p>
            <a:pPr algn="l"/>
            <a:r>
              <a:rPr sz="2800" b="1">
                <a:solidFill>
                  <a:srgbClr val="F2CA69"/>
                </a:solidFill>
                <a:latin typeface="Aptos Display"/>
              </a:rPr>
              <a:t>HERITAGE</a:t>
            </a:r>
          </a:p>
        </p:txBody>
      </p:sp>
      <p:sp>
        <p:nvSpPr>
          <p:cNvPr id="10" name="TextBox 9"/>
          <p:cNvSpPr txBox="1"/>
          <p:nvPr/>
        </p:nvSpPr>
        <p:spPr>
          <a:xfrm>
            <a:off x="731520" y="1444752"/>
            <a:ext cx="6858000" cy="868680"/>
          </a:xfrm>
          <a:prstGeom prst="rect">
            <a:avLst/>
          </a:prstGeom>
          <a:noFill/>
        </p:spPr>
        <p:txBody>
          <a:bodyPr wrap="square" lIns="36576" rIns="36576" tIns="36576" bIns="36576" anchor="t">
            <a:spAutoFit/>
          </a:bodyPr>
          <a:lstStyle/>
          <a:p>
            <a:pPr algn="l"/>
            <a:r>
              <a:rPr sz="5200" b="1">
                <a:solidFill>
                  <a:srgbClr val="FFFFFF"/>
                </a:solidFill>
                <a:latin typeface="Aptos Display"/>
              </a:rPr>
              <a:t>GUARD</a:t>
            </a:r>
          </a:p>
        </p:txBody>
      </p:sp>
      <p:sp>
        <p:nvSpPr>
          <p:cNvPr id="11" name="TextBox 10"/>
          <p:cNvSpPr txBox="1"/>
          <p:nvPr/>
        </p:nvSpPr>
        <p:spPr>
          <a:xfrm>
            <a:off x="777240" y="2423160"/>
            <a:ext cx="6217920" cy="365760"/>
          </a:xfrm>
          <a:prstGeom prst="rect">
            <a:avLst/>
          </a:prstGeom>
          <a:noFill/>
        </p:spPr>
        <p:txBody>
          <a:bodyPr wrap="square" lIns="36576" rIns="36576" tIns="36576" bIns="36576" anchor="t">
            <a:spAutoFit/>
          </a:bodyPr>
          <a:lstStyle/>
          <a:p>
            <a:pPr algn="l"/>
            <a:r>
              <a:rPr sz="1600" b="1">
                <a:solidFill>
                  <a:srgbClr val="F6EED7"/>
                </a:solidFill>
                <a:latin typeface="Aptos"/>
              </a:rPr>
              <a:t>SECURING THE PAST FOR THE FUTURE</a:t>
            </a:r>
          </a:p>
        </p:txBody>
      </p:sp>
      <p:sp>
        <p:nvSpPr>
          <p:cNvPr id="12" name="Rectangle 11"/>
          <p:cNvSpPr/>
          <p:nvPr/>
        </p:nvSpPr>
        <p:spPr>
          <a:xfrm>
            <a:off x="777240" y="3035808"/>
            <a:ext cx="1143000" cy="54864"/>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383280"/>
            <a:ext cx="5120640" cy="320040"/>
          </a:xfrm>
          <a:prstGeom prst="rect">
            <a:avLst/>
          </a:prstGeom>
          <a:noFill/>
        </p:spPr>
        <p:txBody>
          <a:bodyPr wrap="square" lIns="36576" rIns="36576" tIns="36576" bIns="36576" anchor="t">
            <a:spAutoFit/>
          </a:bodyPr>
          <a:lstStyle/>
          <a:p>
            <a:pPr algn="l"/>
            <a:r>
              <a:rPr sz="1400" b="1">
                <a:solidFill>
                  <a:srgbClr val="FFFFFF"/>
                </a:solidFill>
                <a:latin typeface="Aptos"/>
              </a:rPr>
              <a:t>FIRST LEGO League (FLL) Challenge</a:t>
            </a:r>
          </a:p>
        </p:txBody>
      </p:sp>
      <p:sp>
        <p:nvSpPr>
          <p:cNvPr id="14" name="TextBox 13"/>
          <p:cNvSpPr txBox="1"/>
          <p:nvPr/>
        </p:nvSpPr>
        <p:spPr>
          <a:xfrm>
            <a:off x="777240" y="3794760"/>
            <a:ext cx="5120640" cy="292608"/>
          </a:xfrm>
          <a:prstGeom prst="rect">
            <a:avLst/>
          </a:prstGeom>
          <a:noFill/>
        </p:spPr>
        <p:txBody>
          <a:bodyPr wrap="square" lIns="36576" rIns="36576" tIns="36576" bIns="36576" anchor="t">
            <a:spAutoFit/>
          </a:bodyPr>
          <a:lstStyle/>
          <a:p>
            <a:pPr algn="l"/>
            <a:r>
              <a:rPr sz="1300" b="1">
                <a:solidFill>
                  <a:srgbClr val="F2CA69"/>
                </a:solidFill>
                <a:latin typeface="Aptos"/>
              </a:rPr>
              <a:t>Season: UNEARTHED</a:t>
            </a:r>
          </a:p>
        </p:txBody>
      </p:sp>
      <p:sp>
        <p:nvSpPr>
          <p:cNvPr id="15" name="TextBox 14"/>
          <p:cNvSpPr txBox="1"/>
          <p:nvPr/>
        </p:nvSpPr>
        <p:spPr>
          <a:xfrm>
            <a:off x="777240" y="4187952"/>
            <a:ext cx="6035040" cy="548640"/>
          </a:xfrm>
          <a:prstGeom prst="rect">
            <a:avLst/>
          </a:prstGeom>
          <a:noFill/>
        </p:spPr>
        <p:txBody>
          <a:bodyPr wrap="square" lIns="36576" rIns="36576" tIns="36576" bIns="36576" anchor="t">
            <a:spAutoFit/>
          </a:bodyPr>
          <a:lstStyle/>
          <a:p>
            <a:pPr algn="l"/>
            <a:r>
              <a:rPr sz="1200" b="0">
                <a:solidFill>
                  <a:srgbClr val="F6EED7"/>
                </a:solidFill>
                <a:latin typeface="Aptos"/>
              </a:rPr>
              <a:t>Cultural Heritage Preservation  •  Digital Asset Management</a:t>
            </a:r>
          </a:p>
        </p:txBody>
      </p:sp>
      <p:sp>
        <p:nvSpPr>
          <p:cNvPr id="16" name="Rounded Rectangle 15"/>
          <p:cNvSpPr/>
          <p:nvPr/>
        </p:nvSpPr>
        <p:spPr>
          <a:xfrm>
            <a:off x="7360920" y="1920240"/>
            <a:ext cx="3474720" cy="2377440"/>
          </a:xfrm>
          <a:prstGeom prst="roundRect">
            <a:avLst>
              <a:gd name="adj" fmla="val 12000"/>
            </a:avLst>
          </a:prstGeom>
          <a:solidFill>
            <a:srgbClr val="F6EED7"/>
          </a:solidFill>
          <a:ln>
            <a:solidFill>
              <a:srgbClr val="F6E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99248" y="2221992"/>
            <a:ext cx="1143000" cy="640080"/>
          </a:xfrm>
          <a:prstGeom prst="rect">
            <a:avLst/>
          </a:prstGeom>
          <a:noFill/>
        </p:spPr>
        <p:txBody>
          <a:bodyPr wrap="square" lIns="36576" rIns="36576" tIns="36576" bIns="36576" anchor="t">
            <a:spAutoFit/>
          </a:bodyPr>
          <a:lstStyle/>
          <a:p>
            <a:pPr algn="ctr"/>
            <a:r>
              <a:rPr sz="4000" b="1">
                <a:solidFill>
                  <a:srgbClr val="0A3422"/>
                </a:solidFill>
                <a:latin typeface="Aptos"/>
              </a:rPr>
              <a:t>HG</a:t>
            </a:r>
          </a:p>
        </p:txBody>
      </p:sp>
      <p:sp>
        <p:nvSpPr>
          <p:cNvPr id="18" name="TextBox 17"/>
          <p:cNvSpPr txBox="1"/>
          <p:nvPr/>
        </p:nvSpPr>
        <p:spPr>
          <a:xfrm>
            <a:off x="8732520" y="2304288"/>
            <a:ext cx="1645920" cy="457200"/>
          </a:xfrm>
          <a:prstGeom prst="rect">
            <a:avLst/>
          </a:prstGeom>
          <a:noFill/>
        </p:spPr>
        <p:txBody>
          <a:bodyPr wrap="square" lIns="36576" rIns="36576" tIns="36576" bIns="36576" anchor="t">
            <a:spAutoFit/>
          </a:bodyPr>
          <a:lstStyle/>
          <a:p>
            <a:pPr algn="ctr"/>
            <a:r>
              <a:rPr sz="2800" b="1">
                <a:solidFill>
                  <a:srgbClr val="B25B3E"/>
                </a:solidFill>
                <a:latin typeface="Aptos"/>
              </a:rPr>
              <a:t>1001</a:t>
            </a:r>
          </a:p>
        </p:txBody>
      </p:sp>
      <p:sp>
        <p:nvSpPr>
          <p:cNvPr id="19" name="TextBox 18"/>
          <p:cNvSpPr txBox="1"/>
          <p:nvPr/>
        </p:nvSpPr>
        <p:spPr>
          <a:xfrm>
            <a:off x="7726679" y="3017520"/>
            <a:ext cx="2743200" cy="228600"/>
          </a:xfrm>
          <a:prstGeom prst="rect">
            <a:avLst/>
          </a:prstGeom>
          <a:noFill/>
        </p:spPr>
        <p:txBody>
          <a:bodyPr wrap="square" lIns="36576" rIns="36576" tIns="36576" bIns="36576" anchor="t">
            <a:spAutoFit/>
          </a:bodyPr>
          <a:lstStyle/>
          <a:p>
            <a:pPr algn="ctr"/>
            <a:r>
              <a:rPr sz="1000" b="1">
                <a:solidFill>
                  <a:srgbClr val="606962"/>
                </a:solidFill>
                <a:latin typeface="Aptos"/>
              </a:rPr>
              <a:t>DIGITAL ARTIFACT ID</a:t>
            </a:r>
          </a:p>
        </p:txBody>
      </p:sp>
      <p:sp>
        <p:nvSpPr>
          <p:cNvPr id="20" name="TextBox 19"/>
          <p:cNvSpPr txBox="1"/>
          <p:nvPr/>
        </p:nvSpPr>
        <p:spPr>
          <a:xfrm>
            <a:off x="7543800" y="3675887"/>
            <a:ext cx="3108960" cy="320040"/>
          </a:xfrm>
          <a:prstGeom prst="rect">
            <a:avLst/>
          </a:prstGeom>
          <a:noFill/>
        </p:spPr>
        <p:txBody>
          <a:bodyPr wrap="square" lIns="36576" rIns="36576" tIns="36576" bIns="36576" anchor="t">
            <a:spAutoFit/>
          </a:bodyPr>
          <a:lstStyle/>
          <a:p>
            <a:pPr algn="ctr"/>
            <a:r>
              <a:rPr sz="1300" b="1">
                <a:solidFill>
                  <a:srgbClr val="0A3422"/>
                </a:solidFill>
                <a:latin typeface="Aptos"/>
              </a:rPr>
              <a:t>Discover  →  Protect  →  Preserve</a:t>
            </a:r>
          </a:p>
        </p:txBody>
      </p:sp>
      <p:sp>
        <p:nvSpPr>
          <p:cNvPr id="21" name="TextBox 20"/>
          <p:cNvSpPr txBox="1"/>
          <p:nvPr/>
        </p:nvSpPr>
        <p:spPr>
          <a:xfrm>
            <a:off x="777240" y="6144768"/>
            <a:ext cx="3657600" cy="274320"/>
          </a:xfrm>
          <a:prstGeom prst="rect">
            <a:avLst/>
          </a:prstGeom>
          <a:noFill/>
        </p:spPr>
        <p:txBody>
          <a:bodyPr wrap="square" lIns="36576" rIns="36576" tIns="36576" bIns="36576" anchor="t">
            <a:spAutoFit/>
          </a:bodyPr>
          <a:lstStyle/>
          <a:p>
            <a:pPr algn="l"/>
            <a:r>
              <a:rPr sz="1000" b="1">
                <a:solidFill>
                  <a:srgbClr val="F2CA69"/>
                </a:solidFill>
                <a:latin typeface="Aptos"/>
              </a:rPr>
              <a:t>2026 PROJECT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Executive Summary</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THE IDEA</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02</a:t>
            </a:r>
          </a:p>
        </p:txBody>
      </p:sp>
      <p:sp>
        <p:nvSpPr>
          <p:cNvPr id="6" name="Rounded Rectangle 5"/>
          <p:cNvSpPr/>
          <p:nvPr/>
        </p:nvSpPr>
        <p:spPr>
          <a:xfrm>
            <a:off x="685800" y="1417320"/>
            <a:ext cx="10835640" cy="42062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783080"/>
            <a:ext cx="731520" cy="73152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731520" cy="731520"/>
          </a:xfrm>
          <a:prstGeom prst="rect">
            <a:avLst/>
          </a:prstGeom>
          <a:noFill/>
        </p:spPr>
        <p:txBody>
          <a:bodyPr wrap="square" lIns="0" rIns="0" tIns="0" bIns="0" anchor="ctr">
            <a:spAutoFit/>
          </a:bodyPr>
          <a:lstStyle/>
          <a:p>
            <a:pPr algn="ctr"/>
            <a:r>
              <a:rPr sz="1700" b="1">
                <a:solidFill>
                  <a:srgbClr val="FFFFFF"/>
                </a:solidFill>
                <a:latin typeface="Aptos"/>
              </a:rPr>
              <a:t>HG</a:t>
            </a:r>
          </a:p>
        </p:txBody>
      </p:sp>
      <p:sp>
        <p:nvSpPr>
          <p:cNvPr id="9" name="TextBox 8"/>
          <p:cNvSpPr txBox="1"/>
          <p:nvPr/>
        </p:nvSpPr>
        <p:spPr>
          <a:xfrm>
            <a:off x="2011680" y="1709928"/>
            <a:ext cx="8046720" cy="457200"/>
          </a:xfrm>
          <a:prstGeom prst="rect">
            <a:avLst/>
          </a:prstGeom>
          <a:noFill/>
        </p:spPr>
        <p:txBody>
          <a:bodyPr wrap="square" lIns="36576" rIns="36576" tIns="36576" bIns="36576" anchor="t">
            <a:spAutoFit/>
          </a:bodyPr>
          <a:lstStyle/>
          <a:p>
            <a:pPr algn="l"/>
            <a:r>
              <a:rPr sz="2500" b="1">
                <a:solidFill>
                  <a:srgbClr val="0A3422"/>
                </a:solidFill>
                <a:latin typeface="Aptos"/>
              </a:rPr>
              <a:t>A digital shield for every artifact</a:t>
            </a:r>
          </a:p>
        </p:txBody>
      </p:sp>
      <p:sp>
        <p:nvSpPr>
          <p:cNvPr id="10" name="TextBox 9"/>
          <p:cNvSpPr txBox="1"/>
          <p:nvPr/>
        </p:nvSpPr>
        <p:spPr>
          <a:xfrm>
            <a:off x="1097280" y="2560320"/>
            <a:ext cx="9966960" cy="2011680"/>
          </a:xfrm>
          <a:prstGeom prst="rect">
            <a:avLst/>
          </a:prstGeom>
          <a:noFill/>
        </p:spPr>
        <p:txBody>
          <a:bodyPr wrap="square" lIns="36576" rIns="36576" tIns="36576" bIns="36576" anchor="t">
            <a:spAutoFit/>
          </a:bodyPr>
          <a:lstStyle/>
          <a:p>
            <a:pPr algn="l"/>
            <a:r>
              <a:rPr sz="1700" b="0">
                <a:solidFill>
                  <a:srgbClr val="232B26"/>
                </a:solidFill>
                <a:latin typeface="Aptos"/>
              </a:rPr>
              <a:t>Heritage Guard is a secure, role-based web platform engineered to modernize how archaeological teams and museums document, track, and protect historical artifacts. Aligned with the FIRST LEGO League UNEARTHED challenge, the project bridges historical preservation and modern digital security. By replacing fragmented paper trails with a centralized system, Heritage Guard creates a verifiable chain of custody—from the moment an artifact is unearthed to its final placement in a museum gallery—helping combat theft, transport damage, and administrative mismanagement.</a:t>
            </a:r>
          </a:p>
        </p:txBody>
      </p:sp>
      <p:sp>
        <p:nvSpPr>
          <p:cNvPr id="11" name="Rounded Rectangle 10"/>
          <p:cNvSpPr/>
          <p:nvPr/>
        </p:nvSpPr>
        <p:spPr>
          <a:xfrm>
            <a:off x="1097280" y="4800600"/>
            <a:ext cx="9875520" cy="502920"/>
          </a:xfrm>
          <a:prstGeom prst="roundRect">
            <a:avLst>
              <a:gd name="adj" fmla="val 12000"/>
            </a:avLst>
          </a:prstGeom>
          <a:solidFill>
            <a:srgbClr val="FCF6E1"/>
          </a:solidFill>
          <a:ln>
            <a:solidFill>
              <a:srgbClr val="FCF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4901184"/>
            <a:ext cx="9601200" cy="274320"/>
          </a:xfrm>
          <a:prstGeom prst="rect">
            <a:avLst/>
          </a:prstGeom>
          <a:noFill/>
        </p:spPr>
        <p:txBody>
          <a:bodyPr wrap="square" lIns="36576" rIns="36576" tIns="36576" bIns="36576" anchor="t">
            <a:spAutoFit/>
          </a:bodyPr>
          <a:lstStyle/>
          <a:p>
            <a:pPr algn="ctr"/>
            <a:r>
              <a:rPr sz="1300" b="1">
                <a:solidFill>
                  <a:srgbClr val="B25B3E"/>
                </a:solidFill>
                <a:latin typeface="Aptos"/>
              </a:rPr>
              <a:t>UNEARTH IT. IDENTIFY IT. TRACK IT. PROTECT IT.</a:t>
            </a:r>
          </a:p>
        </p:txBody>
      </p:sp>
      <p:sp>
        <p:nvSpPr>
          <p:cNvPr id="13" name="TextBox 12"/>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14" name="Rectangle 13"/>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Area of Focus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WHY THIS MATTERS</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03</a:t>
            </a:r>
          </a:p>
        </p:txBody>
      </p:sp>
      <p:sp>
        <p:nvSpPr>
          <p:cNvPr id="6" name="Rounded Rectangle 5"/>
          <p:cNvSpPr/>
          <p:nvPr/>
        </p:nvSpPr>
        <p:spPr>
          <a:xfrm>
            <a:off x="685800" y="1417320"/>
            <a:ext cx="3383280" cy="20574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205740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67335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01</a:t>
            </a:r>
          </a:p>
        </p:txBody>
      </p:sp>
      <p:sp>
        <p:nvSpPr>
          <p:cNvPr id="10" name="TextBox 9"/>
          <p:cNvSpPr txBox="1"/>
          <p:nvPr/>
        </p:nvSpPr>
        <p:spPr>
          <a:xfrm>
            <a:off x="1508760" y="163677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Cultural Heritage</a:t>
            </a:r>
          </a:p>
        </p:txBody>
      </p:sp>
      <p:sp>
        <p:nvSpPr>
          <p:cNvPr id="11" name="TextBox 10"/>
          <p:cNvSpPr txBox="1"/>
          <p:nvPr/>
        </p:nvSpPr>
        <p:spPr>
          <a:xfrm>
            <a:off x="1508760" y="2075688"/>
            <a:ext cx="2286000" cy="1234440"/>
          </a:xfrm>
          <a:prstGeom prst="rect">
            <a:avLst/>
          </a:prstGeom>
          <a:noFill/>
        </p:spPr>
        <p:txBody>
          <a:bodyPr wrap="square" lIns="36576" rIns="36576" tIns="36576" bIns="36576" anchor="t">
            <a:spAutoFit/>
          </a:bodyPr>
          <a:lstStyle/>
          <a:p>
            <a:pPr algn="l"/>
            <a:r>
              <a:rPr sz="1150" b="0">
                <a:solidFill>
                  <a:srgbClr val="606962"/>
                </a:solidFill>
                <a:latin typeface="Aptos"/>
              </a:rPr>
              <a:t>Preserve historical meaning and physical integrity.</a:t>
            </a:r>
          </a:p>
        </p:txBody>
      </p:sp>
      <p:sp>
        <p:nvSpPr>
          <p:cNvPr id="12" name="Rounded Rectangle 11"/>
          <p:cNvSpPr/>
          <p:nvPr/>
        </p:nvSpPr>
        <p:spPr>
          <a:xfrm>
            <a:off x="4480560" y="1417320"/>
            <a:ext cx="3383280" cy="20574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417320"/>
            <a:ext cx="64008" cy="205740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9160" y="1673352"/>
            <a:ext cx="438912" cy="438912"/>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02</a:t>
            </a:r>
          </a:p>
        </p:txBody>
      </p:sp>
      <p:sp>
        <p:nvSpPr>
          <p:cNvPr id="16" name="TextBox 15"/>
          <p:cNvSpPr txBox="1"/>
          <p:nvPr/>
        </p:nvSpPr>
        <p:spPr>
          <a:xfrm>
            <a:off x="5303520" y="163677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Archaeological Data</a:t>
            </a:r>
          </a:p>
        </p:txBody>
      </p:sp>
      <p:sp>
        <p:nvSpPr>
          <p:cNvPr id="17" name="TextBox 16"/>
          <p:cNvSpPr txBox="1"/>
          <p:nvPr/>
        </p:nvSpPr>
        <p:spPr>
          <a:xfrm>
            <a:off x="5303520" y="2075688"/>
            <a:ext cx="2286000" cy="1234440"/>
          </a:xfrm>
          <a:prstGeom prst="rect">
            <a:avLst/>
          </a:prstGeom>
          <a:noFill/>
        </p:spPr>
        <p:txBody>
          <a:bodyPr wrap="square" lIns="36576" rIns="36576" tIns="36576" bIns="36576" anchor="t">
            <a:spAutoFit/>
          </a:bodyPr>
          <a:lstStyle/>
          <a:p>
            <a:pPr algn="l"/>
            <a:r>
              <a:rPr sz="1150" b="0">
                <a:solidFill>
                  <a:srgbClr val="606962"/>
                </a:solidFill>
                <a:latin typeface="Aptos"/>
              </a:rPr>
              <a:t>Turn field observations into structured records.</a:t>
            </a:r>
          </a:p>
        </p:txBody>
      </p:sp>
      <p:sp>
        <p:nvSpPr>
          <p:cNvPr id="18" name="Rounded Rectangle 17"/>
          <p:cNvSpPr/>
          <p:nvPr/>
        </p:nvSpPr>
        <p:spPr>
          <a:xfrm>
            <a:off x="8275320" y="1417320"/>
            <a:ext cx="3383280" cy="20574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1417320"/>
            <a:ext cx="64008" cy="205740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03920" y="1673352"/>
            <a:ext cx="438912" cy="438912"/>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03</a:t>
            </a:r>
          </a:p>
        </p:txBody>
      </p:sp>
      <p:sp>
        <p:nvSpPr>
          <p:cNvPr id="22" name="TextBox 21"/>
          <p:cNvSpPr txBox="1"/>
          <p:nvPr/>
        </p:nvSpPr>
        <p:spPr>
          <a:xfrm>
            <a:off x="9098280" y="163677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Post-Discovery Security</a:t>
            </a:r>
          </a:p>
        </p:txBody>
      </p:sp>
      <p:sp>
        <p:nvSpPr>
          <p:cNvPr id="23" name="TextBox 22"/>
          <p:cNvSpPr txBox="1"/>
          <p:nvPr/>
        </p:nvSpPr>
        <p:spPr>
          <a:xfrm>
            <a:off x="9098280" y="2075688"/>
            <a:ext cx="2286000" cy="1234440"/>
          </a:xfrm>
          <a:prstGeom prst="rect">
            <a:avLst/>
          </a:prstGeom>
          <a:noFill/>
        </p:spPr>
        <p:txBody>
          <a:bodyPr wrap="square" lIns="36576" rIns="36576" tIns="36576" bIns="36576" anchor="t">
            <a:spAutoFit/>
          </a:bodyPr>
          <a:lstStyle/>
          <a:p>
            <a:pPr algn="l"/>
            <a:r>
              <a:rPr sz="1150" b="0">
                <a:solidFill>
                  <a:srgbClr val="606962"/>
                </a:solidFill>
                <a:latin typeface="Aptos"/>
              </a:rPr>
              <a:t>Protect artifacts after they leave the ground.</a:t>
            </a:r>
          </a:p>
        </p:txBody>
      </p:sp>
      <p:sp>
        <p:nvSpPr>
          <p:cNvPr id="24" name="TextBox 23"/>
          <p:cNvSpPr txBox="1"/>
          <p:nvPr/>
        </p:nvSpPr>
        <p:spPr>
          <a:xfrm>
            <a:off x="777240" y="3977639"/>
            <a:ext cx="10424160" cy="502920"/>
          </a:xfrm>
          <a:prstGeom prst="rect">
            <a:avLst/>
          </a:prstGeom>
          <a:noFill/>
        </p:spPr>
        <p:txBody>
          <a:bodyPr wrap="square" lIns="36576" rIns="36576" tIns="36576" bIns="36576" anchor="t">
            <a:spAutoFit/>
          </a:bodyPr>
          <a:lstStyle/>
          <a:p>
            <a:pPr algn="ctr"/>
            <a:r>
              <a:rPr sz="2400" b="1">
                <a:solidFill>
                  <a:srgbClr val="0A3422"/>
                </a:solidFill>
                <a:latin typeface="Aptos"/>
              </a:rPr>
              <a:t>Traditional archaeology excels at discovery. Our innovation starts immediately after discovery.</a:t>
            </a:r>
          </a:p>
        </p:txBody>
      </p:sp>
      <p:sp>
        <p:nvSpPr>
          <p:cNvPr id="25" name="TextBox 24"/>
          <p:cNvSpPr txBox="1"/>
          <p:nvPr/>
        </p:nvSpPr>
        <p:spPr>
          <a:xfrm>
            <a:off x="1143000" y="4709160"/>
            <a:ext cx="9692640" cy="640080"/>
          </a:xfrm>
          <a:prstGeom prst="rect">
            <a:avLst/>
          </a:prstGeom>
          <a:noFill/>
        </p:spPr>
        <p:txBody>
          <a:bodyPr wrap="square" lIns="36576" rIns="36576" tIns="36576" bIns="36576" anchor="t">
            <a:spAutoFit/>
          </a:bodyPr>
          <a:lstStyle/>
          <a:p>
            <a:pPr algn="ctr"/>
            <a:r>
              <a:rPr sz="1700" b="0">
                <a:solidFill>
                  <a:srgbClr val="606962"/>
                </a:solidFill>
                <a:latin typeface="Aptos"/>
              </a:rPr>
              <a:t>We secure both the DATA and the LOCATION of artifacts—so their story remains traceable.</a:t>
            </a:r>
          </a:p>
        </p:txBody>
      </p:sp>
      <p:sp>
        <p:nvSpPr>
          <p:cNvPr id="26" name="TextBox 25"/>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7" name="Rectangle 26"/>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The Problems We Saw</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THE CHALLENGE</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04</a:t>
            </a:r>
          </a:p>
        </p:txBody>
      </p:sp>
      <p:sp>
        <p:nvSpPr>
          <p:cNvPr id="6" name="Rounded Rectangle 5"/>
          <p:cNvSpPr/>
          <p:nvPr/>
        </p:nvSpPr>
        <p:spPr>
          <a:xfrm>
            <a:off x="731520" y="1417320"/>
            <a:ext cx="5074920" cy="141732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64008" cy="1417320"/>
          </a:xfrm>
          <a:prstGeom prst="rect">
            <a:avLst/>
          </a:prstGeom>
          <a:solidFill>
            <a:srgbClr val="B1342D"/>
          </a:solidFill>
          <a:ln>
            <a:solidFill>
              <a:srgbClr val="B13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636776"/>
            <a:ext cx="4590288" cy="320040"/>
          </a:xfrm>
          <a:prstGeom prst="rect">
            <a:avLst/>
          </a:prstGeom>
          <a:noFill/>
        </p:spPr>
        <p:txBody>
          <a:bodyPr wrap="square" lIns="36576" rIns="36576" tIns="36576" bIns="36576" anchor="t">
            <a:spAutoFit/>
          </a:bodyPr>
          <a:lstStyle/>
          <a:p>
            <a:pPr algn="l"/>
            <a:r>
              <a:rPr sz="1500" b="1">
                <a:solidFill>
                  <a:srgbClr val="0A3422"/>
                </a:solidFill>
                <a:latin typeface="Aptos"/>
              </a:rPr>
              <a:t>THEFT</a:t>
            </a:r>
          </a:p>
        </p:txBody>
      </p:sp>
      <p:sp>
        <p:nvSpPr>
          <p:cNvPr id="9" name="TextBox 8"/>
          <p:cNvSpPr txBox="1"/>
          <p:nvPr/>
        </p:nvSpPr>
        <p:spPr>
          <a:xfrm>
            <a:off x="987552" y="2075688"/>
            <a:ext cx="4544568" cy="594360"/>
          </a:xfrm>
          <a:prstGeom prst="rect">
            <a:avLst/>
          </a:prstGeom>
          <a:noFill/>
        </p:spPr>
        <p:txBody>
          <a:bodyPr wrap="square" lIns="36576" rIns="36576" tIns="36576" bIns="36576" anchor="t">
            <a:spAutoFit/>
          </a:bodyPr>
          <a:lstStyle/>
          <a:p>
            <a:pPr algn="l"/>
            <a:r>
              <a:rPr sz="1150" b="0">
                <a:solidFill>
                  <a:srgbClr val="606962"/>
                </a:solidFill>
                <a:latin typeface="Aptos"/>
              </a:rPr>
              <a:t>Missing items at dig sites and storage facilities</a:t>
            </a:r>
          </a:p>
        </p:txBody>
      </p:sp>
      <p:sp>
        <p:nvSpPr>
          <p:cNvPr id="10" name="Rounded Rectangle 9"/>
          <p:cNvSpPr/>
          <p:nvPr/>
        </p:nvSpPr>
        <p:spPr>
          <a:xfrm>
            <a:off x="6263640" y="1417320"/>
            <a:ext cx="5074920" cy="141732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64008" cy="1417320"/>
          </a:xfrm>
          <a:prstGeom prst="rect">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636776"/>
            <a:ext cx="4590288" cy="320040"/>
          </a:xfrm>
          <a:prstGeom prst="rect">
            <a:avLst/>
          </a:prstGeom>
          <a:noFill/>
        </p:spPr>
        <p:txBody>
          <a:bodyPr wrap="square" lIns="36576" rIns="36576" tIns="36576" bIns="36576" anchor="t">
            <a:spAutoFit/>
          </a:bodyPr>
          <a:lstStyle/>
          <a:p>
            <a:pPr algn="l"/>
            <a:r>
              <a:rPr sz="1500" b="1">
                <a:solidFill>
                  <a:srgbClr val="0A3422"/>
                </a:solidFill>
                <a:latin typeface="Aptos"/>
              </a:rPr>
              <a:t>DAMAGE</a:t>
            </a:r>
          </a:p>
        </p:txBody>
      </p:sp>
      <p:sp>
        <p:nvSpPr>
          <p:cNvPr id="13" name="TextBox 12"/>
          <p:cNvSpPr txBox="1"/>
          <p:nvPr/>
        </p:nvSpPr>
        <p:spPr>
          <a:xfrm>
            <a:off x="6519672" y="2075688"/>
            <a:ext cx="4544568" cy="594360"/>
          </a:xfrm>
          <a:prstGeom prst="rect">
            <a:avLst/>
          </a:prstGeom>
          <a:noFill/>
        </p:spPr>
        <p:txBody>
          <a:bodyPr wrap="square" lIns="36576" rIns="36576" tIns="36576" bIns="36576" anchor="t">
            <a:spAutoFit/>
          </a:bodyPr>
          <a:lstStyle/>
          <a:p>
            <a:pPr algn="l"/>
            <a:r>
              <a:rPr sz="1150" b="0">
                <a:solidFill>
                  <a:srgbClr val="606962"/>
                </a:solidFill>
                <a:latin typeface="Aptos"/>
              </a:rPr>
              <a:t>Transport damage from improper handling</a:t>
            </a:r>
          </a:p>
        </p:txBody>
      </p:sp>
      <p:sp>
        <p:nvSpPr>
          <p:cNvPr id="14" name="Rounded Rectangle 13"/>
          <p:cNvSpPr/>
          <p:nvPr/>
        </p:nvSpPr>
        <p:spPr>
          <a:xfrm>
            <a:off x="731520" y="3200400"/>
            <a:ext cx="5074920" cy="141732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200400"/>
            <a:ext cx="64008" cy="1417320"/>
          </a:xfrm>
          <a:prstGeom prst="rect">
            <a:avLst/>
          </a:prstGeom>
          <a:solidFill>
            <a:srgbClr val="CD912D"/>
          </a:solidFill>
          <a:ln>
            <a:solidFill>
              <a:srgbClr val="CD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419856"/>
            <a:ext cx="4590288" cy="320040"/>
          </a:xfrm>
          <a:prstGeom prst="rect">
            <a:avLst/>
          </a:prstGeom>
          <a:noFill/>
        </p:spPr>
        <p:txBody>
          <a:bodyPr wrap="square" lIns="36576" rIns="36576" tIns="36576" bIns="36576" anchor="t">
            <a:spAutoFit/>
          </a:bodyPr>
          <a:lstStyle/>
          <a:p>
            <a:pPr algn="l"/>
            <a:r>
              <a:rPr sz="1500" b="1">
                <a:solidFill>
                  <a:srgbClr val="0A3422"/>
                </a:solidFill>
                <a:latin typeface="Aptos"/>
              </a:rPr>
              <a:t>LOSS</a:t>
            </a:r>
          </a:p>
        </p:txBody>
      </p:sp>
      <p:sp>
        <p:nvSpPr>
          <p:cNvPr id="17" name="TextBox 16"/>
          <p:cNvSpPr txBox="1"/>
          <p:nvPr/>
        </p:nvSpPr>
        <p:spPr>
          <a:xfrm>
            <a:off x="987552" y="3858768"/>
            <a:ext cx="4544568" cy="594360"/>
          </a:xfrm>
          <a:prstGeom prst="rect">
            <a:avLst/>
          </a:prstGeom>
          <a:noFill/>
        </p:spPr>
        <p:txBody>
          <a:bodyPr wrap="square" lIns="36576" rIns="36576" tIns="36576" bIns="36576" anchor="t">
            <a:spAutoFit/>
          </a:bodyPr>
          <a:lstStyle/>
          <a:p>
            <a:pPr algn="l"/>
            <a:r>
              <a:rPr sz="1150" b="0">
                <a:solidFill>
                  <a:srgbClr val="606962"/>
                </a:solidFill>
                <a:latin typeface="Aptos"/>
              </a:rPr>
              <a:t>Items disappear inside unclear storage systems</a:t>
            </a:r>
          </a:p>
        </p:txBody>
      </p:sp>
      <p:sp>
        <p:nvSpPr>
          <p:cNvPr id="18" name="Rounded Rectangle 17"/>
          <p:cNvSpPr/>
          <p:nvPr/>
        </p:nvSpPr>
        <p:spPr>
          <a:xfrm>
            <a:off x="6263640" y="3200400"/>
            <a:ext cx="5074920" cy="141732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200400"/>
            <a:ext cx="64008" cy="141732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9672" y="3419856"/>
            <a:ext cx="4590288" cy="320040"/>
          </a:xfrm>
          <a:prstGeom prst="rect">
            <a:avLst/>
          </a:prstGeom>
          <a:noFill/>
        </p:spPr>
        <p:txBody>
          <a:bodyPr wrap="square" lIns="36576" rIns="36576" tIns="36576" bIns="36576" anchor="t">
            <a:spAutoFit/>
          </a:bodyPr>
          <a:lstStyle/>
          <a:p>
            <a:pPr algn="l"/>
            <a:r>
              <a:rPr sz="1500" b="1">
                <a:solidFill>
                  <a:srgbClr val="0A3422"/>
                </a:solidFill>
                <a:latin typeface="Aptos"/>
              </a:rPr>
              <a:t>FRAGMENTATION</a:t>
            </a:r>
          </a:p>
        </p:txBody>
      </p:sp>
      <p:sp>
        <p:nvSpPr>
          <p:cNvPr id="21" name="TextBox 20"/>
          <p:cNvSpPr txBox="1"/>
          <p:nvPr/>
        </p:nvSpPr>
        <p:spPr>
          <a:xfrm>
            <a:off x="6519672" y="3858768"/>
            <a:ext cx="4544568" cy="594360"/>
          </a:xfrm>
          <a:prstGeom prst="rect">
            <a:avLst/>
          </a:prstGeom>
          <a:noFill/>
        </p:spPr>
        <p:txBody>
          <a:bodyPr wrap="square" lIns="36576" rIns="36576" tIns="36576" bIns="36576" anchor="t">
            <a:spAutoFit/>
          </a:bodyPr>
          <a:lstStyle/>
          <a:p>
            <a:pPr algn="l"/>
            <a:r>
              <a:rPr sz="1150" b="0">
                <a:solidFill>
                  <a:srgbClr val="606962"/>
                </a:solidFill>
                <a:latin typeface="Aptos"/>
              </a:rPr>
              <a:t>Paper trails break the chain of custody</a:t>
            </a:r>
          </a:p>
        </p:txBody>
      </p:sp>
      <p:sp>
        <p:nvSpPr>
          <p:cNvPr id="22" name="TextBox 21"/>
          <p:cNvSpPr txBox="1"/>
          <p:nvPr/>
        </p:nvSpPr>
        <p:spPr>
          <a:xfrm>
            <a:off x="1005840" y="5303520"/>
            <a:ext cx="10149840" cy="502920"/>
          </a:xfrm>
          <a:prstGeom prst="rect">
            <a:avLst/>
          </a:prstGeom>
          <a:noFill/>
        </p:spPr>
        <p:txBody>
          <a:bodyPr wrap="square" lIns="36576" rIns="36576" tIns="36576" bIns="36576" anchor="t">
            <a:spAutoFit/>
          </a:bodyPr>
          <a:lstStyle/>
          <a:p>
            <a:pPr algn="ctr"/>
            <a:r>
              <a:rPr sz="1900" b="1">
                <a:solidFill>
                  <a:srgbClr val="B25B3E"/>
                </a:solidFill>
                <a:latin typeface="Aptos"/>
              </a:rPr>
              <a:t>“Without real-time digital tracking, artifacts can be stolen, broken, or forgotten.”</a:t>
            </a:r>
          </a:p>
        </p:txBody>
      </p:sp>
      <p:sp>
        <p:nvSpPr>
          <p:cNvPr id="23" name="TextBox 22"/>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4" name="Rectangle 23"/>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The Solution: Heritage Guard</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OUR RESPONSE</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05</a:t>
            </a:r>
          </a:p>
        </p:txBody>
      </p:sp>
      <p:sp>
        <p:nvSpPr>
          <p:cNvPr id="6" name="TextBox 5"/>
          <p:cNvSpPr txBox="1"/>
          <p:nvPr/>
        </p:nvSpPr>
        <p:spPr>
          <a:xfrm>
            <a:off x="777240" y="1280160"/>
            <a:ext cx="10515600" cy="502920"/>
          </a:xfrm>
          <a:prstGeom prst="rect">
            <a:avLst/>
          </a:prstGeom>
          <a:noFill/>
        </p:spPr>
        <p:txBody>
          <a:bodyPr wrap="square" lIns="36576" rIns="36576" tIns="36576" bIns="36576" anchor="t">
            <a:spAutoFit/>
          </a:bodyPr>
          <a:lstStyle/>
          <a:p>
            <a:pPr algn="ctr"/>
            <a:r>
              <a:rPr sz="2500" b="1">
                <a:solidFill>
                  <a:srgbClr val="0A3422"/>
                </a:solidFill>
                <a:latin typeface="Aptos"/>
              </a:rPr>
              <a:t>From scattered notes → one accountable digital trail</a:t>
            </a:r>
          </a:p>
        </p:txBody>
      </p:sp>
      <p:sp>
        <p:nvSpPr>
          <p:cNvPr id="7" name="Oval 6"/>
          <p:cNvSpPr/>
          <p:nvPr/>
        </p:nvSpPr>
        <p:spPr>
          <a:xfrm>
            <a:off x="1161288" y="2057400"/>
            <a:ext cx="777240" cy="77724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1288" y="2057400"/>
            <a:ext cx="777240" cy="777240"/>
          </a:xfrm>
          <a:prstGeom prst="rect">
            <a:avLst/>
          </a:prstGeom>
          <a:noFill/>
        </p:spPr>
        <p:txBody>
          <a:bodyPr wrap="square" lIns="0" rIns="0" tIns="0" bIns="0" anchor="ctr">
            <a:spAutoFit/>
          </a:bodyPr>
          <a:lstStyle/>
          <a:p>
            <a:pPr algn="ctr"/>
            <a:r>
              <a:rPr sz="1100" b="1">
                <a:solidFill>
                  <a:srgbClr val="FFFFFF"/>
                </a:solidFill>
                <a:latin typeface="Aptos"/>
              </a:rPr>
              <a:t>01</a:t>
            </a:r>
          </a:p>
        </p:txBody>
      </p:sp>
      <p:sp>
        <p:nvSpPr>
          <p:cNvPr id="9" name="TextBox 8"/>
          <p:cNvSpPr txBox="1"/>
          <p:nvPr/>
        </p:nvSpPr>
        <p:spPr>
          <a:xfrm>
            <a:off x="502920" y="2971800"/>
            <a:ext cx="2057400" cy="274320"/>
          </a:xfrm>
          <a:prstGeom prst="rect">
            <a:avLst/>
          </a:prstGeom>
          <a:noFill/>
        </p:spPr>
        <p:txBody>
          <a:bodyPr wrap="square" lIns="36576" rIns="36576" tIns="36576" bIns="36576" anchor="t">
            <a:spAutoFit/>
          </a:bodyPr>
          <a:lstStyle/>
          <a:p>
            <a:pPr algn="ctr"/>
            <a:r>
              <a:rPr sz="1300" b="1">
                <a:solidFill>
                  <a:srgbClr val="0A3422"/>
                </a:solidFill>
                <a:latin typeface="Aptos"/>
              </a:rPr>
              <a:t>DISCOVER</a:t>
            </a:r>
          </a:p>
        </p:txBody>
      </p:sp>
      <p:sp>
        <p:nvSpPr>
          <p:cNvPr id="10" name="TextBox 9"/>
          <p:cNvSpPr txBox="1"/>
          <p:nvPr/>
        </p:nvSpPr>
        <p:spPr>
          <a:xfrm>
            <a:off x="502920" y="3310128"/>
            <a:ext cx="2057400" cy="502920"/>
          </a:xfrm>
          <a:prstGeom prst="rect">
            <a:avLst/>
          </a:prstGeom>
          <a:noFill/>
        </p:spPr>
        <p:txBody>
          <a:bodyPr wrap="square" lIns="36576" rIns="36576" tIns="36576" bIns="36576" anchor="t">
            <a:spAutoFit/>
          </a:bodyPr>
          <a:lstStyle/>
          <a:p>
            <a:pPr algn="ctr"/>
            <a:r>
              <a:rPr sz="1050" b="0">
                <a:solidFill>
                  <a:srgbClr val="606962"/>
                </a:solidFill>
                <a:latin typeface="Aptos"/>
              </a:rPr>
              <a:t>Register artifact</a:t>
            </a:r>
          </a:p>
        </p:txBody>
      </p:sp>
      <p:sp>
        <p:nvSpPr>
          <p:cNvPr id="11" name="TextBox 10"/>
          <p:cNvSpPr txBox="1"/>
          <p:nvPr/>
        </p:nvSpPr>
        <p:spPr>
          <a:xfrm>
            <a:off x="2496312" y="2267712"/>
            <a:ext cx="411480" cy="320040"/>
          </a:xfrm>
          <a:prstGeom prst="rect">
            <a:avLst/>
          </a:prstGeom>
          <a:noFill/>
        </p:spPr>
        <p:txBody>
          <a:bodyPr wrap="square" lIns="36576" rIns="36576" tIns="36576" bIns="36576" anchor="t">
            <a:spAutoFit/>
          </a:bodyPr>
          <a:lstStyle/>
          <a:p>
            <a:pPr algn="ctr"/>
            <a:r>
              <a:rPr sz="2200" b="1">
                <a:solidFill>
                  <a:srgbClr val="D2A437"/>
                </a:solidFill>
                <a:latin typeface="Aptos"/>
              </a:rPr>
              <a:t>→</a:t>
            </a:r>
          </a:p>
        </p:txBody>
      </p:sp>
      <p:sp>
        <p:nvSpPr>
          <p:cNvPr id="12" name="Oval 11"/>
          <p:cNvSpPr/>
          <p:nvPr/>
        </p:nvSpPr>
        <p:spPr>
          <a:xfrm>
            <a:off x="3493007" y="2057400"/>
            <a:ext cx="777240" cy="77724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7" y="2057400"/>
            <a:ext cx="777240" cy="777240"/>
          </a:xfrm>
          <a:prstGeom prst="rect">
            <a:avLst/>
          </a:prstGeom>
          <a:noFill/>
        </p:spPr>
        <p:txBody>
          <a:bodyPr wrap="square" lIns="0" rIns="0" tIns="0" bIns="0" anchor="ctr">
            <a:spAutoFit/>
          </a:bodyPr>
          <a:lstStyle/>
          <a:p>
            <a:pPr algn="ctr"/>
            <a:r>
              <a:rPr sz="1100" b="1">
                <a:solidFill>
                  <a:srgbClr val="FFFFFF"/>
                </a:solidFill>
                <a:latin typeface="Aptos"/>
              </a:rPr>
              <a:t>02</a:t>
            </a:r>
          </a:p>
        </p:txBody>
      </p:sp>
      <p:sp>
        <p:nvSpPr>
          <p:cNvPr id="14" name="TextBox 13"/>
          <p:cNvSpPr txBox="1"/>
          <p:nvPr/>
        </p:nvSpPr>
        <p:spPr>
          <a:xfrm>
            <a:off x="2834639" y="2971800"/>
            <a:ext cx="2057400" cy="274320"/>
          </a:xfrm>
          <a:prstGeom prst="rect">
            <a:avLst/>
          </a:prstGeom>
          <a:noFill/>
        </p:spPr>
        <p:txBody>
          <a:bodyPr wrap="square" lIns="36576" rIns="36576" tIns="36576" bIns="36576" anchor="t">
            <a:spAutoFit/>
          </a:bodyPr>
          <a:lstStyle/>
          <a:p>
            <a:pPr algn="ctr"/>
            <a:r>
              <a:rPr sz="1300" b="1">
                <a:solidFill>
                  <a:srgbClr val="0A3422"/>
                </a:solidFill>
                <a:latin typeface="Aptos"/>
              </a:rPr>
              <a:t>IDENTIFY</a:t>
            </a:r>
          </a:p>
        </p:txBody>
      </p:sp>
      <p:sp>
        <p:nvSpPr>
          <p:cNvPr id="15" name="TextBox 14"/>
          <p:cNvSpPr txBox="1"/>
          <p:nvPr/>
        </p:nvSpPr>
        <p:spPr>
          <a:xfrm>
            <a:off x="2834639" y="3310128"/>
            <a:ext cx="2057400" cy="502920"/>
          </a:xfrm>
          <a:prstGeom prst="rect">
            <a:avLst/>
          </a:prstGeom>
          <a:noFill/>
        </p:spPr>
        <p:txBody>
          <a:bodyPr wrap="square" lIns="36576" rIns="36576" tIns="36576" bIns="36576" anchor="t">
            <a:spAutoFit/>
          </a:bodyPr>
          <a:lstStyle/>
          <a:p>
            <a:pPr algn="ctr"/>
            <a:r>
              <a:rPr sz="1050" b="0">
                <a:solidFill>
                  <a:srgbClr val="606962"/>
                </a:solidFill>
                <a:latin typeface="Aptos"/>
              </a:rPr>
              <a:t>Generate HG code</a:t>
            </a:r>
          </a:p>
        </p:txBody>
      </p:sp>
      <p:sp>
        <p:nvSpPr>
          <p:cNvPr id="16" name="TextBox 15"/>
          <p:cNvSpPr txBox="1"/>
          <p:nvPr/>
        </p:nvSpPr>
        <p:spPr>
          <a:xfrm>
            <a:off x="4828031" y="2267712"/>
            <a:ext cx="411480" cy="320040"/>
          </a:xfrm>
          <a:prstGeom prst="rect">
            <a:avLst/>
          </a:prstGeom>
          <a:noFill/>
        </p:spPr>
        <p:txBody>
          <a:bodyPr wrap="square" lIns="36576" rIns="36576" tIns="36576" bIns="36576" anchor="t">
            <a:spAutoFit/>
          </a:bodyPr>
          <a:lstStyle/>
          <a:p>
            <a:pPr algn="ctr"/>
            <a:r>
              <a:rPr sz="2200" b="1">
                <a:solidFill>
                  <a:srgbClr val="D2A437"/>
                </a:solidFill>
                <a:latin typeface="Aptos"/>
              </a:rPr>
              <a:t>→</a:t>
            </a:r>
          </a:p>
        </p:txBody>
      </p:sp>
      <p:sp>
        <p:nvSpPr>
          <p:cNvPr id="17" name="Oval 16"/>
          <p:cNvSpPr/>
          <p:nvPr/>
        </p:nvSpPr>
        <p:spPr>
          <a:xfrm>
            <a:off x="5824727" y="2057400"/>
            <a:ext cx="777240" cy="77724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4727" y="2057400"/>
            <a:ext cx="777240" cy="777240"/>
          </a:xfrm>
          <a:prstGeom prst="rect">
            <a:avLst/>
          </a:prstGeom>
          <a:noFill/>
        </p:spPr>
        <p:txBody>
          <a:bodyPr wrap="square" lIns="0" rIns="0" tIns="0" bIns="0" anchor="ctr">
            <a:spAutoFit/>
          </a:bodyPr>
          <a:lstStyle/>
          <a:p>
            <a:pPr algn="ctr"/>
            <a:r>
              <a:rPr sz="1100" b="1">
                <a:solidFill>
                  <a:srgbClr val="FFFFFF"/>
                </a:solidFill>
                <a:latin typeface="Aptos"/>
              </a:rPr>
              <a:t>03</a:t>
            </a:r>
          </a:p>
        </p:txBody>
      </p:sp>
      <p:sp>
        <p:nvSpPr>
          <p:cNvPr id="19" name="TextBox 18"/>
          <p:cNvSpPr txBox="1"/>
          <p:nvPr/>
        </p:nvSpPr>
        <p:spPr>
          <a:xfrm>
            <a:off x="5166359" y="2971800"/>
            <a:ext cx="2057400" cy="274320"/>
          </a:xfrm>
          <a:prstGeom prst="rect">
            <a:avLst/>
          </a:prstGeom>
          <a:noFill/>
        </p:spPr>
        <p:txBody>
          <a:bodyPr wrap="square" lIns="36576" rIns="36576" tIns="36576" bIns="36576" anchor="t">
            <a:spAutoFit/>
          </a:bodyPr>
          <a:lstStyle/>
          <a:p>
            <a:pPr algn="ctr"/>
            <a:r>
              <a:rPr sz="1300" b="1">
                <a:solidFill>
                  <a:srgbClr val="0A3422"/>
                </a:solidFill>
                <a:latin typeface="Aptos"/>
              </a:rPr>
              <a:t>TRACK</a:t>
            </a:r>
          </a:p>
        </p:txBody>
      </p:sp>
      <p:sp>
        <p:nvSpPr>
          <p:cNvPr id="20" name="TextBox 19"/>
          <p:cNvSpPr txBox="1"/>
          <p:nvPr/>
        </p:nvSpPr>
        <p:spPr>
          <a:xfrm>
            <a:off x="5166359" y="3310128"/>
            <a:ext cx="2057400" cy="502920"/>
          </a:xfrm>
          <a:prstGeom prst="rect">
            <a:avLst/>
          </a:prstGeom>
          <a:noFill/>
        </p:spPr>
        <p:txBody>
          <a:bodyPr wrap="square" lIns="36576" rIns="36576" tIns="36576" bIns="36576" anchor="t">
            <a:spAutoFit/>
          </a:bodyPr>
          <a:lstStyle/>
          <a:p>
            <a:pPr algn="ctr"/>
            <a:r>
              <a:rPr sz="1050" b="0">
                <a:solidFill>
                  <a:srgbClr val="606962"/>
                </a:solidFill>
                <a:latin typeface="Aptos"/>
              </a:rPr>
              <a:t>Log movement</a:t>
            </a:r>
          </a:p>
        </p:txBody>
      </p:sp>
      <p:sp>
        <p:nvSpPr>
          <p:cNvPr id="21" name="TextBox 20"/>
          <p:cNvSpPr txBox="1"/>
          <p:nvPr/>
        </p:nvSpPr>
        <p:spPr>
          <a:xfrm>
            <a:off x="7159752" y="2267712"/>
            <a:ext cx="411480" cy="320040"/>
          </a:xfrm>
          <a:prstGeom prst="rect">
            <a:avLst/>
          </a:prstGeom>
          <a:noFill/>
        </p:spPr>
        <p:txBody>
          <a:bodyPr wrap="square" lIns="36576" rIns="36576" tIns="36576" bIns="36576" anchor="t">
            <a:spAutoFit/>
          </a:bodyPr>
          <a:lstStyle/>
          <a:p>
            <a:pPr algn="ctr"/>
            <a:r>
              <a:rPr sz="2200" b="1">
                <a:solidFill>
                  <a:srgbClr val="D2A437"/>
                </a:solidFill>
                <a:latin typeface="Aptos"/>
              </a:rPr>
              <a:t>→</a:t>
            </a:r>
          </a:p>
        </p:txBody>
      </p:sp>
      <p:sp>
        <p:nvSpPr>
          <p:cNvPr id="22" name="Oval 21"/>
          <p:cNvSpPr/>
          <p:nvPr/>
        </p:nvSpPr>
        <p:spPr>
          <a:xfrm>
            <a:off x="8156448" y="2057400"/>
            <a:ext cx="777240" cy="77724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2057400"/>
            <a:ext cx="777240" cy="777240"/>
          </a:xfrm>
          <a:prstGeom prst="rect">
            <a:avLst/>
          </a:prstGeom>
          <a:noFill/>
        </p:spPr>
        <p:txBody>
          <a:bodyPr wrap="square" lIns="0" rIns="0" tIns="0" bIns="0" anchor="ctr">
            <a:spAutoFit/>
          </a:bodyPr>
          <a:lstStyle/>
          <a:p>
            <a:pPr algn="ctr"/>
            <a:r>
              <a:rPr sz="1100" b="1">
                <a:solidFill>
                  <a:srgbClr val="FFFFFF"/>
                </a:solidFill>
                <a:latin typeface="Aptos"/>
              </a:rPr>
              <a:t>04</a:t>
            </a:r>
          </a:p>
        </p:txBody>
      </p:sp>
      <p:sp>
        <p:nvSpPr>
          <p:cNvPr id="24" name="TextBox 23"/>
          <p:cNvSpPr txBox="1"/>
          <p:nvPr/>
        </p:nvSpPr>
        <p:spPr>
          <a:xfrm>
            <a:off x="7498079" y="2971800"/>
            <a:ext cx="2057400" cy="274320"/>
          </a:xfrm>
          <a:prstGeom prst="rect">
            <a:avLst/>
          </a:prstGeom>
          <a:noFill/>
        </p:spPr>
        <p:txBody>
          <a:bodyPr wrap="square" lIns="36576" rIns="36576" tIns="36576" bIns="36576" anchor="t">
            <a:spAutoFit/>
          </a:bodyPr>
          <a:lstStyle/>
          <a:p>
            <a:pPr algn="ctr"/>
            <a:r>
              <a:rPr sz="1300" b="1">
                <a:solidFill>
                  <a:srgbClr val="0A3422"/>
                </a:solidFill>
                <a:latin typeface="Aptos"/>
              </a:rPr>
              <a:t>PROTECT</a:t>
            </a:r>
          </a:p>
        </p:txBody>
      </p:sp>
      <p:sp>
        <p:nvSpPr>
          <p:cNvPr id="25" name="TextBox 24"/>
          <p:cNvSpPr txBox="1"/>
          <p:nvPr/>
        </p:nvSpPr>
        <p:spPr>
          <a:xfrm>
            <a:off x="7498079" y="3310128"/>
            <a:ext cx="2057400" cy="502920"/>
          </a:xfrm>
          <a:prstGeom prst="rect">
            <a:avLst/>
          </a:prstGeom>
          <a:noFill/>
        </p:spPr>
        <p:txBody>
          <a:bodyPr wrap="square" lIns="36576" rIns="36576" tIns="36576" bIns="36576" anchor="t">
            <a:spAutoFit/>
          </a:bodyPr>
          <a:lstStyle/>
          <a:p>
            <a:pPr algn="ctr"/>
            <a:r>
              <a:rPr sz="1050" b="0">
                <a:solidFill>
                  <a:srgbClr val="606962"/>
                </a:solidFill>
                <a:latin typeface="Aptos"/>
              </a:rPr>
              <a:t>Monitor condition</a:t>
            </a:r>
          </a:p>
        </p:txBody>
      </p:sp>
      <p:sp>
        <p:nvSpPr>
          <p:cNvPr id="26" name="TextBox 25"/>
          <p:cNvSpPr txBox="1"/>
          <p:nvPr/>
        </p:nvSpPr>
        <p:spPr>
          <a:xfrm>
            <a:off x="9491472" y="2267712"/>
            <a:ext cx="411480" cy="320040"/>
          </a:xfrm>
          <a:prstGeom prst="rect">
            <a:avLst/>
          </a:prstGeom>
          <a:noFill/>
        </p:spPr>
        <p:txBody>
          <a:bodyPr wrap="square" lIns="36576" rIns="36576" tIns="36576" bIns="36576" anchor="t">
            <a:spAutoFit/>
          </a:bodyPr>
          <a:lstStyle/>
          <a:p>
            <a:pPr algn="ctr"/>
            <a:r>
              <a:rPr sz="2200" b="1">
                <a:solidFill>
                  <a:srgbClr val="D2A437"/>
                </a:solidFill>
                <a:latin typeface="Aptos"/>
              </a:rPr>
              <a:t>→</a:t>
            </a:r>
          </a:p>
        </p:txBody>
      </p:sp>
      <p:sp>
        <p:nvSpPr>
          <p:cNvPr id="27" name="Oval 26"/>
          <p:cNvSpPr/>
          <p:nvPr/>
        </p:nvSpPr>
        <p:spPr>
          <a:xfrm>
            <a:off x="10488168" y="2057400"/>
            <a:ext cx="777240" cy="777240"/>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88168" y="2057400"/>
            <a:ext cx="777240" cy="777240"/>
          </a:xfrm>
          <a:prstGeom prst="rect">
            <a:avLst/>
          </a:prstGeom>
          <a:noFill/>
        </p:spPr>
        <p:txBody>
          <a:bodyPr wrap="square" lIns="0" rIns="0" tIns="0" bIns="0" anchor="ctr">
            <a:spAutoFit/>
          </a:bodyPr>
          <a:lstStyle/>
          <a:p>
            <a:pPr algn="ctr"/>
            <a:r>
              <a:rPr sz="1100" b="1">
                <a:solidFill>
                  <a:srgbClr val="FFFFFF"/>
                </a:solidFill>
                <a:latin typeface="Aptos"/>
              </a:rPr>
              <a:t>05</a:t>
            </a:r>
          </a:p>
        </p:txBody>
      </p:sp>
      <p:sp>
        <p:nvSpPr>
          <p:cNvPr id="29" name="TextBox 28"/>
          <p:cNvSpPr txBox="1"/>
          <p:nvPr/>
        </p:nvSpPr>
        <p:spPr>
          <a:xfrm>
            <a:off x="9829800" y="2971800"/>
            <a:ext cx="2057400" cy="274320"/>
          </a:xfrm>
          <a:prstGeom prst="rect">
            <a:avLst/>
          </a:prstGeom>
          <a:noFill/>
        </p:spPr>
        <p:txBody>
          <a:bodyPr wrap="square" lIns="36576" rIns="36576" tIns="36576" bIns="36576" anchor="t">
            <a:spAutoFit/>
          </a:bodyPr>
          <a:lstStyle/>
          <a:p>
            <a:pPr algn="ctr"/>
            <a:r>
              <a:rPr sz="1300" b="1">
                <a:solidFill>
                  <a:srgbClr val="0A3422"/>
                </a:solidFill>
                <a:latin typeface="Aptos"/>
              </a:rPr>
              <a:t>PRESERVE</a:t>
            </a:r>
          </a:p>
        </p:txBody>
      </p:sp>
      <p:sp>
        <p:nvSpPr>
          <p:cNvPr id="30" name="TextBox 29"/>
          <p:cNvSpPr txBox="1"/>
          <p:nvPr/>
        </p:nvSpPr>
        <p:spPr>
          <a:xfrm>
            <a:off x="9829800" y="3310128"/>
            <a:ext cx="2057400" cy="502920"/>
          </a:xfrm>
          <a:prstGeom prst="rect">
            <a:avLst/>
          </a:prstGeom>
          <a:noFill/>
        </p:spPr>
        <p:txBody>
          <a:bodyPr wrap="square" lIns="36576" rIns="36576" tIns="36576" bIns="36576" anchor="t">
            <a:spAutoFit/>
          </a:bodyPr>
          <a:lstStyle/>
          <a:p>
            <a:pPr algn="ctr"/>
            <a:r>
              <a:rPr sz="1050" b="0">
                <a:solidFill>
                  <a:srgbClr val="606962"/>
                </a:solidFill>
                <a:latin typeface="Aptos"/>
              </a:rPr>
              <a:t>Report &amp; audit</a:t>
            </a:r>
          </a:p>
        </p:txBody>
      </p:sp>
      <p:sp>
        <p:nvSpPr>
          <p:cNvPr id="31" name="Rounded Rectangle 30"/>
          <p:cNvSpPr/>
          <p:nvPr/>
        </p:nvSpPr>
        <p:spPr>
          <a:xfrm>
            <a:off x="1188720" y="4251960"/>
            <a:ext cx="9784080" cy="960120"/>
          </a:xfrm>
          <a:prstGeom prst="roundRect">
            <a:avLst>
              <a:gd name="adj" fmla="val 12000"/>
            </a:avLst>
          </a:prstGeom>
          <a:solidFill>
            <a:srgbClr val="E1EFE6"/>
          </a:solidFill>
          <a:ln>
            <a:solidFill>
              <a:srgbClr val="E1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17320" y="4498848"/>
            <a:ext cx="9326880" cy="365760"/>
          </a:xfrm>
          <a:prstGeom prst="rect">
            <a:avLst/>
          </a:prstGeom>
          <a:noFill/>
        </p:spPr>
        <p:txBody>
          <a:bodyPr wrap="square" lIns="36576" rIns="36576" tIns="36576" bIns="36576" anchor="t">
            <a:spAutoFit/>
          </a:bodyPr>
          <a:lstStyle/>
          <a:p>
            <a:pPr algn="ctr"/>
            <a:r>
              <a:rPr sz="1800" b="1">
                <a:solidFill>
                  <a:srgbClr val="135334"/>
                </a:solidFill>
                <a:latin typeface="Aptos"/>
              </a:rPr>
              <a:t>Every artifact has a story. Heritage Guard makes that story traceable.</a:t>
            </a:r>
          </a:p>
        </p:txBody>
      </p:sp>
      <p:sp>
        <p:nvSpPr>
          <p:cNvPr id="33" name="TextBox 32"/>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34" name="Rectangle 33"/>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Key Features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THE TOOLKIT</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06</a:t>
            </a:r>
          </a:p>
        </p:txBody>
      </p:sp>
      <p:sp>
        <p:nvSpPr>
          <p:cNvPr id="6" name="Rounded Rectangle 5"/>
          <p:cNvSpPr/>
          <p:nvPr/>
        </p:nvSpPr>
        <p:spPr>
          <a:xfrm>
            <a:off x="640080" y="1417320"/>
            <a:ext cx="3383280" cy="17373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17320"/>
            <a:ext cx="64008" cy="173736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67335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01</a:t>
            </a:r>
          </a:p>
        </p:txBody>
      </p:sp>
      <p:sp>
        <p:nvSpPr>
          <p:cNvPr id="10" name="TextBox 9"/>
          <p:cNvSpPr txBox="1"/>
          <p:nvPr/>
        </p:nvSpPr>
        <p:spPr>
          <a:xfrm>
            <a:off x="1463040" y="163677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UNIQUE CODES</a:t>
            </a:r>
          </a:p>
        </p:txBody>
      </p:sp>
      <p:sp>
        <p:nvSpPr>
          <p:cNvPr id="11" name="TextBox 10"/>
          <p:cNvSpPr txBox="1"/>
          <p:nvPr/>
        </p:nvSpPr>
        <p:spPr>
          <a:xfrm>
            <a:off x="1463040" y="2075688"/>
            <a:ext cx="2286000" cy="914399"/>
          </a:xfrm>
          <a:prstGeom prst="rect">
            <a:avLst/>
          </a:prstGeom>
          <a:noFill/>
        </p:spPr>
        <p:txBody>
          <a:bodyPr wrap="square" lIns="36576" rIns="36576" tIns="36576" bIns="36576" anchor="t">
            <a:spAutoFit/>
          </a:bodyPr>
          <a:lstStyle/>
          <a:p>
            <a:pPr algn="l"/>
            <a:r>
              <a:rPr sz="1150" b="0">
                <a:solidFill>
                  <a:srgbClr val="606962"/>
                </a:solidFill>
                <a:latin typeface="Aptos"/>
              </a:rPr>
              <a:t>HG-1001, HG-1002…</a:t>
            </a:r>
          </a:p>
        </p:txBody>
      </p:sp>
      <p:sp>
        <p:nvSpPr>
          <p:cNvPr id="12" name="Rounded Rectangle 11"/>
          <p:cNvSpPr/>
          <p:nvPr/>
        </p:nvSpPr>
        <p:spPr>
          <a:xfrm>
            <a:off x="4434840" y="1417320"/>
            <a:ext cx="3383280" cy="17373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417320"/>
            <a:ext cx="64008" cy="173736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3440" y="1673352"/>
            <a:ext cx="438912" cy="438912"/>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02</a:t>
            </a:r>
          </a:p>
        </p:txBody>
      </p:sp>
      <p:sp>
        <p:nvSpPr>
          <p:cNvPr id="16" name="TextBox 15"/>
          <p:cNvSpPr txBox="1"/>
          <p:nvPr/>
        </p:nvSpPr>
        <p:spPr>
          <a:xfrm>
            <a:off x="5257800" y="163677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LIVE STATUS</a:t>
            </a:r>
          </a:p>
        </p:txBody>
      </p:sp>
      <p:sp>
        <p:nvSpPr>
          <p:cNvPr id="17" name="TextBox 16"/>
          <p:cNvSpPr txBox="1"/>
          <p:nvPr/>
        </p:nvSpPr>
        <p:spPr>
          <a:xfrm>
            <a:off x="5257800" y="2075688"/>
            <a:ext cx="2286000" cy="914399"/>
          </a:xfrm>
          <a:prstGeom prst="rect">
            <a:avLst/>
          </a:prstGeom>
          <a:noFill/>
        </p:spPr>
        <p:txBody>
          <a:bodyPr wrap="square" lIns="36576" rIns="36576" tIns="36576" bIns="36576" anchor="t">
            <a:spAutoFit/>
          </a:bodyPr>
          <a:lstStyle/>
          <a:p>
            <a:pPr algn="l"/>
            <a:r>
              <a:rPr sz="1150" b="0">
                <a:solidFill>
                  <a:srgbClr val="606962"/>
                </a:solidFill>
                <a:latin typeface="Aptos"/>
              </a:rPr>
              <a:t>OK / Broken / Stolen</a:t>
            </a:r>
          </a:p>
        </p:txBody>
      </p:sp>
      <p:sp>
        <p:nvSpPr>
          <p:cNvPr id="18" name="Rounded Rectangle 17"/>
          <p:cNvSpPr/>
          <p:nvPr/>
        </p:nvSpPr>
        <p:spPr>
          <a:xfrm>
            <a:off x="8229600" y="1417320"/>
            <a:ext cx="3383280" cy="17373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417320"/>
            <a:ext cx="64008" cy="1737360"/>
          </a:xfrm>
          <a:prstGeom prst="rect">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58200" y="1673352"/>
            <a:ext cx="438912" cy="438912"/>
          </a:xfrm>
          <a:prstGeom prst="ellipse">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03</a:t>
            </a:r>
          </a:p>
        </p:txBody>
      </p:sp>
      <p:sp>
        <p:nvSpPr>
          <p:cNvPr id="22" name="TextBox 21"/>
          <p:cNvSpPr txBox="1"/>
          <p:nvPr/>
        </p:nvSpPr>
        <p:spPr>
          <a:xfrm>
            <a:off x="9052560" y="163677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CHAIN OF CUSTODY</a:t>
            </a:r>
          </a:p>
        </p:txBody>
      </p:sp>
      <p:sp>
        <p:nvSpPr>
          <p:cNvPr id="23" name="TextBox 22"/>
          <p:cNvSpPr txBox="1"/>
          <p:nvPr/>
        </p:nvSpPr>
        <p:spPr>
          <a:xfrm>
            <a:off x="9052560" y="2075688"/>
            <a:ext cx="2286000" cy="914399"/>
          </a:xfrm>
          <a:prstGeom prst="rect">
            <a:avLst/>
          </a:prstGeom>
          <a:noFill/>
        </p:spPr>
        <p:txBody>
          <a:bodyPr wrap="square" lIns="36576" rIns="36576" tIns="36576" bIns="36576" anchor="t">
            <a:spAutoFit/>
          </a:bodyPr>
          <a:lstStyle/>
          <a:p>
            <a:pPr algn="l"/>
            <a:r>
              <a:rPr sz="1150" b="0">
                <a:solidFill>
                  <a:srgbClr val="606962"/>
                </a:solidFill>
                <a:latin typeface="Aptos"/>
              </a:rPr>
              <a:t>Timestamped movement log</a:t>
            </a:r>
          </a:p>
        </p:txBody>
      </p:sp>
      <p:sp>
        <p:nvSpPr>
          <p:cNvPr id="24" name="Rounded Rectangle 23"/>
          <p:cNvSpPr/>
          <p:nvPr/>
        </p:nvSpPr>
        <p:spPr>
          <a:xfrm>
            <a:off x="640080" y="3566160"/>
            <a:ext cx="3383280" cy="17373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566160"/>
            <a:ext cx="64008" cy="1737360"/>
          </a:xfrm>
          <a:prstGeom prst="rect">
            <a:avLst/>
          </a:prstGeom>
          <a:solidFill>
            <a:srgbClr val="CD912D"/>
          </a:solidFill>
          <a:ln>
            <a:solidFill>
              <a:srgbClr val="CD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68680" y="3822192"/>
            <a:ext cx="438912" cy="438912"/>
          </a:xfrm>
          <a:prstGeom prst="ellipse">
            <a:avLst/>
          </a:prstGeom>
          <a:solidFill>
            <a:srgbClr val="CD912D"/>
          </a:solidFill>
          <a:ln>
            <a:solidFill>
              <a:srgbClr val="CD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822192"/>
            <a:ext cx="438912" cy="438912"/>
          </a:xfrm>
          <a:prstGeom prst="rect">
            <a:avLst/>
          </a:prstGeom>
          <a:noFill/>
        </p:spPr>
        <p:txBody>
          <a:bodyPr wrap="square" lIns="0" rIns="0" tIns="0" bIns="0" anchor="ctr">
            <a:spAutoFit/>
          </a:bodyPr>
          <a:lstStyle/>
          <a:p>
            <a:pPr algn="ctr"/>
            <a:r>
              <a:rPr sz="1100" b="1">
                <a:solidFill>
                  <a:srgbClr val="FFFFFF"/>
                </a:solidFill>
                <a:latin typeface="Aptos"/>
              </a:rPr>
              <a:t>04</a:t>
            </a:r>
          </a:p>
        </p:txBody>
      </p:sp>
      <p:sp>
        <p:nvSpPr>
          <p:cNvPr id="28" name="TextBox 27"/>
          <p:cNvSpPr txBox="1"/>
          <p:nvPr/>
        </p:nvSpPr>
        <p:spPr>
          <a:xfrm>
            <a:off x="1463040" y="378561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CONDITION CHECKLIST</a:t>
            </a:r>
          </a:p>
        </p:txBody>
      </p:sp>
      <p:sp>
        <p:nvSpPr>
          <p:cNvPr id="29" name="TextBox 28"/>
          <p:cNvSpPr txBox="1"/>
          <p:nvPr/>
        </p:nvSpPr>
        <p:spPr>
          <a:xfrm>
            <a:off x="1463040" y="4224528"/>
            <a:ext cx="2286000" cy="914399"/>
          </a:xfrm>
          <a:prstGeom prst="rect">
            <a:avLst/>
          </a:prstGeom>
          <a:noFill/>
        </p:spPr>
        <p:txBody>
          <a:bodyPr wrap="square" lIns="36576" rIns="36576" tIns="36576" bIns="36576" anchor="t">
            <a:spAutoFit/>
          </a:bodyPr>
          <a:lstStyle/>
          <a:p>
            <a:pPr algn="l"/>
            <a:r>
              <a:rPr sz="1150" b="0">
                <a:solidFill>
                  <a:srgbClr val="606962"/>
                </a:solidFill>
                <a:latin typeface="Aptos"/>
              </a:rPr>
              <a:t>Consistent damage reporting</a:t>
            </a:r>
          </a:p>
        </p:txBody>
      </p:sp>
      <p:sp>
        <p:nvSpPr>
          <p:cNvPr id="30" name="Rounded Rectangle 29"/>
          <p:cNvSpPr/>
          <p:nvPr/>
        </p:nvSpPr>
        <p:spPr>
          <a:xfrm>
            <a:off x="4434840" y="3566160"/>
            <a:ext cx="3383280" cy="17373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34840" y="3566160"/>
            <a:ext cx="64008" cy="173736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663440" y="382219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3822192"/>
            <a:ext cx="438912" cy="438912"/>
          </a:xfrm>
          <a:prstGeom prst="rect">
            <a:avLst/>
          </a:prstGeom>
          <a:noFill/>
        </p:spPr>
        <p:txBody>
          <a:bodyPr wrap="square" lIns="0" rIns="0" tIns="0" bIns="0" anchor="ctr">
            <a:spAutoFit/>
          </a:bodyPr>
          <a:lstStyle/>
          <a:p>
            <a:pPr algn="ctr"/>
            <a:r>
              <a:rPr sz="1100" b="1">
                <a:solidFill>
                  <a:srgbClr val="FFFFFF"/>
                </a:solidFill>
                <a:latin typeface="Aptos"/>
              </a:rPr>
              <a:t>05</a:t>
            </a:r>
          </a:p>
        </p:txBody>
      </p:sp>
      <p:sp>
        <p:nvSpPr>
          <p:cNvPr id="34" name="TextBox 33"/>
          <p:cNvSpPr txBox="1"/>
          <p:nvPr/>
        </p:nvSpPr>
        <p:spPr>
          <a:xfrm>
            <a:off x="5257800" y="378561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HIGH-VALUE WATCHLIST</a:t>
            </a:r>
          </a:p>
        </p:txBody>
      </p:sp>
      <p:sp>
        <p:nvSpPr>
          <p:cNvPr id="35" name="TextBox 34"/>
          <p:cNvSpPr txBox="1"/>
          <p:nvPr/>
        </p:nvSpPr>
        <p:spPr>
          <a:xfrm>
            <a:off x="5257800" y="4224528"/>
            <a:ext cx="2286000" cy="914399"/>
          </a:xfrm>
          <a:prstGeom prst="rect">
            <a:avLst/>
          </a:prstGeom>
          <a:noFill/>
        </p:spPr>
        <p:txBody>
          <a:bodyPr wrap="square" lIns="36576" rIns="36576" tIns="36576" bIns="36576" anchor="t">
            <a:spAutoFit/>
          </a:bodyPr>
          <a:lstStyle/>
          <a:p>
            <a:pPr algn="l"/>
            <a:r>
              <a:rPr sz="1150" b="0">
                <a:solidFill>
                  <a:srgbClr val="606962"/>
                </a:solidFill>
                <a:latin typeface="Aptos"/>
              </a:rPr>
              <a:t>Priority monitoring</a:t>
            </a:r>
          </a:p>
        </p:txBody>
      </p:sp>
      <p:sp>
        <p:nvSpPr>
          <p:cNvPr id="36" name="Rounded Rectangle 35"/>
          <p:cNvSpPr/>
          <p:nvPr/>
        </p:nvSpPr>
        <p:spPr>
          <a:xfrm>
            <a:off x="8229600" y="3566160"/>
            <a:ext cx="3383280" cy="17373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9600" y="3566160"/>
            <a:ext cx="64008" cy="173736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458200" y="3822192"/>
            <a:ext cx="438912" cy="438912"/>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58200" y="3822192"/>
            <a:ext cx="438912" cy="438912"/>
          </a:xfrm>
          <a:prstGeom prst="rect">
            <a:avLst/>
          </a:prstGeom>
          <a:noFill/>
        </p:spPr>
        <p:txBody>
          <a:bodyPr wrap="square" lIns="0" rIns="0" tIns="0" bIns="0" anchor="ctr">
            <a:spAutoFit/>
          </a:bodyPr>
          <a:lstStyle/>
          <a:p>
            <a:pPr algn="ctr"/>
            <a:r>
              <a:rPr sz="1100" b="1">
                <a:solidFill>
                  <a:srgbClr val="FFFFFF"/>
                </a:solidFill>
                <a:latin typeface="Aptos"/>
              </a:rPr>
              <a:t>06</a:t>
            </a:r>
          </a:p>
        </p:txBody>
      </p:sp>
      <p:sp>
        <p:nvSpPr>
          <p:cNvPr id="40" name="TextBox 39"/>
          <p:cNvSpPr txBox="1"/>
          <p:nvPr/>
        </p:nvSpPr>
        <p:spPr>
          <a:xfrm>
            <a:off x="9052560" y="378561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REPORTS &amp; LOGS</a:t>
            </a:r>
          </a:p>
        </p:txBody>
      </p:sp>
      <p:sp>
        <p:nvSpPr>
          <p:cNvPr id="41" name="TextBox 40"/>
          <p:cNvSpPr txBox="1"/>
          <p:nvPr/>
        </p:nvSpPr>
        <p:spPr>
          <a:xfrm>
            <a:off x="9052560" y="4224528"/>
            <a:ext cx="2286000" cy="914399"/>
          </a:xfrm>
          <a:prstGeom prst="rect">
            <a:avLst/>
          </a:prstGeom>
          <a:noFill/>
        </p:spPr>
        <p:txBody>
          <a:bodyPr wrap="square" lIns="36576" rIns="36576" tIns="36576" bIns="36576" anchor="t">
            <a:spAutoFit/>
          </a:bodyPr>
          <a:lstStyle/>
          <a:p>
            <a:pPr algn="l"/>
            <a:r>
              <a:rPr sz="1150" b="0">
                <a:solidFill>
                  <a:srgbClr val="606962"/>
                </a:solidFill>
                <a:latin typeface="Aptos"/>
              </a:rPr>
              <a:t>Audit-ready activity history</a:t>
            </a:r>
          </a:p>
        </p:txBody>
      </p:sp>
      <p:sp>
        <p:nvSpPr>
          <p:cNvPr id="42" name="TextBox 41"/>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43" name="Rectangle 42"/>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Unique Artifact Codes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FEATURE 01</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07</a:t>
            </a:r>
          </a:p>
        </p:txBody>
      </p:sp>
      <p:sp>
        <p:nvSpPr>
          <p:cNvPr id="6" name="TextBox 5"/>
          <p:cNvSpPr txBox="1"/>
          <p:nvPr/>
        </p:nvSpPr>
        <p:spPr>
          <a:xfrm>
            <a:off x="731520" y="1417320"/>
            <a:ext cx="5029200" cy="502920"/>
          </a:xfrm>
          <a:prstGeom prst="rect">
            <a:avLst/>
          </a:prstGeom>
          <a:noFill/>
        </p:spPr>
        <p:txBody>
          <a:bodyPr wrap="square" lIns="36576" rIns="36576" tIns="36576" bIns="36576" anchor="t">
            <a:spAutoFit/>
          </a:bodyPr>
          <a:lstStyle/>
          <a:p>
            <a:pPr algn="l"/>
            <a:r>
              <a:rPr sz="2800" b="1">
                <a:solidFill>
                  <a:srgbClr val="0A3422"/>
                </a:solidFill>
                <a:latin typeface="Aptos"/>
              </a:rPr>
              <a:t>One artifact. One identity.</a:t>
            </a:r>
          </a:p>
        </p:txBody>
      </p:sp>
      <p:sp>
        <p:nvSpPr>
          <p:cNvPr id="7" name="TextBox 6"/>
          <p:cNvSpPr txBox="1"/>
          <p:nvPr/>
        </p:nvSpPr>
        <p:spPr>
          <a:xfrm>
            <a:off x="731520" y="2057400"/>
            <a:ext cx="4754880" cy="914400"/>
          </a:xfrm>
          <a:prstGeom prst="rect">
            <a:avLst/>
          </a:prstGeom>
          <a:noFill/>
        </p:spPr>
        <p:txBody>
          <a:bodyPr wrap="square" lIns="36576" rIns="36576" tIns="36576" bIns="36576" anchor="t">
            <a:spAutoFit/>
          </a:bodyPr>
          <a:lstStyle/>
          <a:p>
            <a:pPr algn="l"/>
            <a:r>
              <a:rPr sz="1700" b="0">
                <a:solidFill>
                  <a:srgbClr val="606962"/>
                </a:solidFill>
                <a:latin typeface="Aptos"/>
              </a:rPr>
              <a:t>The system automatically generates standardized alphanumeric codes for every new entry.</a:t>
            </a:r>
          </a:p>
        </p:txBody>
      </p:sp>
      <p:sp>
        <p:nvSpPr>
          <p:cNvPr id="8" name="Rounded Rectangle 7"/>
          <p:cNvSpPr/>
          <p:nvPr/>
        </p:nvSpPr>
        <p:spPr>
          <a:xfrm>
            <a:off x="822960" y="3337560"/>
            <a:ext cx="4480560" cy="114300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502152"/>
            <a:ext cx="4023360" cy="640080"/>
          </a:xfrm>
          <a:prstGeom prst="rect">
            <a:avLst/>
          </a:prstGeom>
          <a:noFill/>
        </p:spPr>
        <p:txBody>
          <a:bodyPr wrap="square" lIns="36576" rIns="36576" tIns="36576" bIns="36576" anchor="ctr">
            <a:spAutoFit/>
          </a:bodyPr>
          <a:lstStyle/>
          <a:p>
            <a:pPr algn="ctr"/>
            <a:r>
              <a:rPr sz="3700" b="1">
                <a:solidFill>
                  <a:srgbClr val="F2CA69"/>
                </a:solidFill>
                <a:latin typeface="Aptos"/>
              </a:rPr>
              <a:t>HG-1001</a:t>
            </a:r>
          </a:p>
        </p:txBody>
      </p:sp>
      <p:sp>
        <p:nvSpPr>
          <p:cNvPr id="10" name="TextBox 9"/>
          <p:cNvSpPr txBox="1"/>
          <p:nvPr/>
        </p:nvSpPr>
        <p:spPr>
          <a:xfrm>
            <a:off x="5806440" y="1508760"/>
            <a:ext cx="5303520" cy="3474720"/>
          </a:xfrm>
          <a:prstGeom prst="rect">
            <a:avLst/>
          </a:prstGeom>
          <a:noFill/>
        </p:spPr>
        <p:txBody>
          <a:bodyPr wrap="square">
            <a:spAutoFit/>
          </a:bodyPr>
          <a:lstStyle/>
          <a:p>
            <a:pPr>
              <a:spcAft>
                <a:spcPts val="800"/>
              </a:spcAft>
              <a:defRPr sz="1700">
                <a:solidFill>
                  <a:srgbClr val="232B26"/>
                </a:solidFill>
                <a:latin typeface="Aptos"/>
              </a:defRPr>
            </a:pPr>
            <a:r>
              <a:t>•  Instant identification in the field</a:t>
            </a:r>
          </a:p>
          <a:p>
            <a:pPr>
              <a:spcAft>
                <a:spcPts val="800"/>
              </a:spcAft>
              <a:defRPr sz="1700">
                <a:solidFill>
                  <a:srgbClr val="232B26"/>
                </a:solidFill>
                <a:latin typeface="Aptos"/>
              </a:defRPr>
            </a:pPr>
            <a:r>
              <a:t>•  No confusing local naming conventions</a:t>
            </a:r>
          </a:p>
          <a:p>
            <a:pPr>
              <a:spcAft>
                <a:spcPts val="800"/>
              </a:spcAft>
              <a:defRPr sz="1700">
                <a:solidFill>
                  <a:srgbClr val="232B26"/>
                </a:solidFill>
                <a:latin typeface="Aptos"/>
              </a:defRPr>
            </a:pPr>
            <a:r>
              <a:t>•  Traceable across storage, transport and exhibition</a:t>
            </a:r>
          </a:p>
        </p:txBody>
      </p:sp>
      <p:sp>
        <p:nvSpPr>
          <p:cNvPr id="11" name="TextBox 10"/>
          <p:cNvSpPr txBox="1"/>
          <p:nvPr/>
        </p:nvSpPr>
        <p:spPr>
          <a:xfrm>
            <a:off x="5897880" y="5074920"/>
            <a:ext cx="4937760" cy="274320"/>
          </a:xfrm>
          <a:prstGeom prst="rect">
            <a:avLst/>
          </a:prstGeom>
          <a:noFill/>
        </p:spPr>
        <p:txBody>
          <a:bodyPr wrap="square" lIns="36576" rIns="36576" tIns="36576" bIns="36576" anchor="t">
            <a:spAutoFit/>
          </a:bodyPr>
          <a:lstStyle/>
          <a:p>
            <a:pPr algn="ctr"/>
            <a:r>
              <a:rPr sz="1100" b="1">
                <a:solidFill>
                  <a:srgbClr val="B25B3E"/>
                </a:solidFill>
                <a:latin typeface="Aptos"/>
              </a:rPr>
              <a:t>FIELD TAG  →  DATABASE  →  MUSEUM</a:t>
            </a:r>
          </a:p>
        </p:txBody>
      </p:sp>
      <p:sp>
        <p:nvSpPr>
          <p:cNvPr id="12" name="TextBox 11"/>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13" name="Rectangle 12"/>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Real-Time Status Tracking</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FEATURE 02</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08</a:t>
            </a:r>
          </a:p>
        </p:txBody>
      </p:sp>
      <p:sp>
        <p:nvSpPr>
          <p:cNvPr id="6" name="TextBox 5"/>
          <p:cNvSpPr txBox="1"/>
          <p:nvPr/>
        </p:nvSpPr>
        <p:spPr>
          <a:xfrm>
            <a:off x="731520" y="1371600"/>
            <a:ext cx="5303520" cy="457200"/>
          </a:xfrm>
          <a:prstGeom prst="rect">
            <a:avLst/>
          </a:prstGeom>
          <a:noFill/>
        </p:spPr>
        <p:txBody>
          <a:bodyPr wrap="square" lIns="36576" rIns="36576" tIns="36576" bIns="36576" anchor="t">
            <a:spAutoFit/>
          </a:bodyPr>
          <a:lstStyle/>
          <a:p>
            <a:pPr algn="l"/>
            <a:r>
              <a:rPr sz="2700" b="1">
                <a:solidFill>
                  <a:srgbClr val="0A3422"/>
                </a:solidFill>
                <a:latin typeface="Aptos"/>
              </a:rPr>
              <a:t>At-a-glance risk visibility</a:t>
            </a:r>
          </a:p>
        </p:txBody>
      </p:sp>
      <p:sp>
        <p:nvSpPr>
          <p:cNvPr id="7" name="Rounded Rectangle 6"/>
          <p:cNvSpPr/>
          <p:nvPr/>
        </p:nvSpPr>
        <p:spPr>
          <a:xfrm>
            <a:off x="731520" y="2240280"/>
            <a:ext cx="3154680" cy="19202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2514600"/>
            <a:ext cx="1051560" cy="457200"/>
          </a:xfrm>
          <a:prstGeom prst="roundRect">
            <a:avLst>
              <a:gd name="adj" fmla="val 12000"/>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587752"/>
            <a:ext cx="1051560" cy="228600"/>
          </a:xfrm>
          <a:prstGeom prst="rect">
            <a:avLst/>
          </a:prstGeom>
          <a:noFill/>
        </p:spPr>
        <p:txBody>
          <a:bodyPr wrap="square" lIns="36576" rIns="36576" tIns="36576" bIns="36576" anchor="t">
            <a:spAutoFit/>
          </a:bodyPr>
          <a:lstStyle/>
          <a:p>
            <a:pPr algn="ctr"/>
            <a:r>
              <a:rPr sz="1000" b="1">
                <a:solidFill>
                  <a:srgbClr val="FFFFFF"/>
                </a:solidFill>
                <a:latin typeface="Aptos"/>
              </a:rPr>
              <a:t>OK</a:t>
            </a:r>
          </a:p>
        </p:txBody>
      </p:sp>
      <p:sp>
        <p:nvSpPr>
          <p:cNvPr id="10" name="TextBox 9"/>
          <p:cNvSpPr txBox="1"/>
          <p:nvPr/>
        </p:nvSpPr>
        <p:spPr>
          <a:xfrm>
            <a:off x="960120" y="3246120"/>
            <a:ext cx="2651760" cy="320040"/>
          </a:xfrm>
          <a:prstGeom prst="rect">
            <a:avLst/>
          </a:prstGeom>
          <a:noFill/>
        </p:spPr>
        <p:txBody>
          <a:bodyPr wrap="square" lIns="36576" rIns="36576" tIns="36576" bIns="36576" anchor="t">
            <a:spAutoFit/>
          </a:bodyPr>
          <a:lstStyle/>
          <a:p>
            <a:pPr algn="l"/>
            <a:r>
              <a:rPr sz="1600" b="1">
                <a:solidFill>
                  <a:srgbClr val="0A3422"/>
                </a:solidFill>
                <a:latin typeface="Aptos"/>
              </a:rPr>
              <a:t>Safe / stable</a:t>
            </a:r>
          </a:p>
        </p:txBody>
      </p:sp>
      <p:sp>
        <p:nvSpPr>
          <p:cNvPr id="11" name="TextBox 10"/>
          <p:cNvSpPr txBox="1"/>
          <p:nvPr/>
        </p:nvSpPr>
        <p:spPr>
          <a:xfrm>
            <a:off x="960120" y="3703320"/>
            <a:ext cx="2606040" cy="274320"/>
          </a:xfrm>
          <a:prstGeom prst="rect">
            <a:avLst/>
          </a:prstGeom>
          <a:noFill/>
        </p:spPr>
        <p:txBody>
          <a:bodyPr wrap="square" lIns="36576" rIns="36576" tIns="36576" bIns="36576" anchor="t">
            <a:spAutoFit/>
          </a:bodyPr>
          <a:lstStyle/>
          <a:p>
            <a:pPr algn="l"/>
            <a:r>
              <a:rPr sz="1050" b="0">
                <a:solidFill>
                  <a:srgbClr val="606962"/>
                </a:solidFill>
                <a:latin typeface="Aptos"/>
              </a:rPr>
              <a:t>Instantly visible on the monitoring screen</a:t>
            </a:r>
          </a:p>
        </p:txBody>
      </p:sp>
      <p:sp>
        <p:nvSpPr>
          <p:cNvPr id="12" name="Rounded Rectangle 11"/>
          <p:cNvSpPr/>
          <p:nvPr/>
        </p:nvSpPr>
        <p:spPr>
          <a:xfrm>
            <a:off x="4389120" y="2240280"/>
            <a:ext cx="3154680" cy="19202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17720" y="2514600"/>
            <a:ext cx="1051560" cy="457200"/>
          </a:xfrm>
          <a:prstGeom prst="roundRect">
            <a:avLst>
              <a:gd name="adj" fmla="val 12000"/>
            </a:avLst>
          </a:prstGeom>
          <a:solidFill>
            <a:srgbClr val="CD912D"/>
          </a:solidFill>
          <a:ln>
            <a:solidFill>
              <a:srgbClr val="CD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587752"/>
            <a:ext cx="1051560" cy="228600"/>
          </a:xfrm>
          <a:prstGeom prst="rect">
            <a:avLst/>
          </a:prstGeom>
          <a:noFill/>
        </p:spPr>
        <p:txBody>
          <a:bodyPr wrap="square" lIns="36576" rIns="36576" tIns="36576" bIns="36576" anchor="t">
            <a:spAutoFit/>
          </a:bodyPr>
          <a:lstStyle/>
          <a:p>
            <a:pPr algn="ctr"/>
            <a:r>
              <a:rPr sz="1000" b="1">
                <a:solidFill>
                  <a:srgbClr val="FFFFFF"/>
                </a:solidFill>
                <a:latin typeface="Aptos"/>
              </a:rPr>
              <a:t>BROKEN</a:t>
            </a:r>
          </a:p>
        </p:txBody>
      </p:sp>
      <p:sp>
        <p:nvSpPr>
          <p:cNvPr id="15" name="TextBox 14"/>
          <p:cNvSpPr txBox="1"/>
          <p:nvPr/>
        </p:nvSpPr>
        <p:spPr>
          <a:xfrm>
            <a:off x="4617720" y="3246120"/>
            <a:ext cx="2651760" cy="320040"/>
          </a:xfrm>
          <a:prstGeom prst="rect">
            <a:avLst/>
          </a:prstGeom>
          <a:noFill/>
        </p:spPr>
        <p:txBody>
          <a:bodyPr wrap="square" lIns="36576" rIns="36576" tIns="36576" bIns="36576" anchor="t">
            <a:spAutoFit/>
          </a:bodyPr>
          <a:lstStyle/>
          <a:p>
            <a:pPr algn="l"/>
            <a:r>
              <a:rPr sz="1600" b="1">
                <a:solidFill>
                  <a:srgbClr val="0A3422"/>
                </a:solidFill>
                <a:latin typeface="Aptos"/>
              </a:rPr>
              <a:t>Needs conservation</a:t>
            </a:r>
          </a:p>
        </p:txBody>
      </p:sp>
      <p:sp>
        <p:nvSpPr>
          <p:cNvPr id="16" name="TextBox 15"/>
          <p:cNvSpPr txBox="1"/>
          <p:nvPr/>
        </p:nvSpPr>
        <p:spPr>
          <a:xfrm>
            <a:off x="4617720" y="3703320"/>
            <a:ext cx="2606040" cy="274320"/>
          </a:xfrm>
          <a:prstGeom prst="rect">
            <a:avLst/>
          </a:prstGeom>
          <a:noFill/>
        </p:spPr>
        <p:txBody>
          <a:bodyPr wrap="square" lIns="36576" rIns="36576" tIns="36576" bIns="36576" anchor="t">
            <a:spAutoFit/>
          </a:bodyPr>
          <a:lstStyle/>
          <a:p>
            <a:pPr algn="l"/>
            <a:r>
              <a:rPr sz="1050" b="0">
                <a:solidFill>
                  <a:srgbClr val="606962"/>
                </a:solidFill>
                <a:latin typeface="Aptos"/>
              </a:rPr>
              <a:t>Instantly visible on the monitoring screen</a:t>
            </a:r>
          </a:p>
        </p:txBody>
      </p:sp>
      <p:sp>
        <p:nvSpPr>
          <p:cNvPr id="17" name="Rounded Rectangle 16"/>
          <p:cNvSpPr/>
          <p:nvPr/>
        </p:nvSpPr>
        <p:spPr>
          <a:xfrm>
            <a:off x="8046720" y="2240280"/>
            <a:ext cx="3154680" cy="19202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75320" y="2514600"/>
            <a:ext cx="1051560" cy="457200"/>
          </a:xfrm>
          <a:prstGeom prst="roundRect">
            <a:avLst>
              <a:gd name="adj" fmla="val 12000"/>
            </a:avLst>
          </a:prstGeom>
          <a:solidFill>
            <a:srgbClr val="B1342D"/>
          </a:solidFill>
          <a:ln>
            <a:solidFill>
              <a:srgbClr val="B13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2587752"/>
            <a:ext cx="1051560" cy="228600"/>
          </a:xfrm>
          <a:prstGeom prst="rect">
            <a:avLst/>
          </a:prstGeom>
          <a:noFill/>
        </p:spPr>
        <p:txBody>
          <a:bodyPr wrap="square" lIns="36576" rIns="36576" tIns="36576" bIns="36576" anchor="t">
            <a:spAutoFit/>
          </a:bodyPr>
          <a:lstStyle/>
          <a:p>
            <a:pPr algn="ctr"/>
            <a:r>
              <a:rPr sz="1000" b="1">
                <a:solidFill>
                  <a:srgbClr val="FFFFFF"/>
                </a:solidFill>
                <a:latin typeface="Aptos"/>
              </a:rPr>
              <a:t>STOLEN</a:t>
            </a:r>
          </a:p>
        </p:txBody>
      </p:sp>
      <p:sp>
        <p:nvSpPr>
          <p:cNvPr id="20" name="TextBox 19"/>
          <p:cNvSpPr txBox="1"/>
          <p:nvPr/>
        </p:nvSpPr>
        <p:spPr>
          <a:xfrm>
            <a:off x="8275320" y="3246120"/>
            <a:ext cx="2651760" cy="320040"/>
          </a:xfrm>
          <a:prstGeom prst="rect">
            <a:avLst/>
          </a:prstGeom>
          <a:noFill/>
        </p:spPr>
        <p:txBody>
          <a:bodyPr wrap="square" lIns="36576" rIns="36576" tIns="36576" bIns="36576" anchor="t">
            <a:spAutoFit/>
          </a:bodyPr>
          <a:lstStyle/>
          <a:p>
            <a:pPr algn="l"/>
            <a:r>
              <a:rPr sz="1600" b="1">
                <a:solidFill>
                  <a:srgbClr val="0A3422"/>
                </a:solidFill>
                <a:latin typeface="Aptos"/>
              </a:rPr>
              <a:t>Urgent security alert</a:t>
            </a:r>
          </a:p>
        </p:txBody>
      </p:sp>
      <p:sp>
        <p:nvSpPr>
          <p:cNvPr id="21" name="TextBox 20"/>
          <p:cNvSpPr txBox="1"/>
          <p:nvPr/>
        </p:nvSpPr>
        <p:spPr>
          <a:xfrm>
            <a:off x="8275320" y="3703320"/>
            <a:ext cx="2606040" cy="274320"/>
          </a:xfrm>
          <a:prstGeom prst="rect">
            <a:avLst/>
          </a:prstGeom>
          <a:noFill/>
        </p:spPr>
        <p:txBody>
          <a:bodyPr wrap="square" lIns="36576" rIns="36576" tIns="36576" bIns="36576" anchor="t">
            <a:spAutoFit/>
          </a:bodyPr>
          <a:lstStyle/>
          <a:p>
            <a:pPr algn="l"/>
            <a:r>
              <a:rPr sz="1050" b="0">
                <a:solidFill>
                  <a:srgbClr val="606962"/>
                </a:solidFill>
                <a:latin typeface="Aptos"/>
              </a:rPr>
              <a:t>Instantly visible on the monitoring screen</a:t>
            </a:r>
          </a:p>
        </p:txBody>
      </p:sp>
      <p:sp>
        <p:nvSpPr>
          <p:cNvPr id="22" name="TextBox 21"/>
          <p:cNvSpPr txBox="1"/>
          <p:nvPr/>
        </p:nvSpPr>
        <p:spPr>
          <a:xfrm>
            <a:off x="1005840" y="4983480"/>
            <a:ext cx="10058400" cy="502920"/>
          </a:xfrm>
          <a:prstGeom prst="rect">
            <a:avLst/>
          </a:prstGeom>
          <a:noFill/>
        </p:spPr>
        <p:txBody>
          <a:bodyPr wrap="square" lIns="36576" rIns="36576" tIns="36576" bIns="36576" anchor="t">
            <a:spAutoFit/>
          </a:bodyPr>
          <a:lstStyle/>
          <a:p>
            <a:pPr algn="ctr"/>
            <a:r>
              <a:rPr sz="1800" b="0">
                <a:solidFill>
                  <a:srgbClr val="232B26"/>
                </a:solidFill>
                <a:latin typeface="Aptos"/>
              </a:rPr>
              <a:t>Security staff and managers can spot urgent items without waiting for manual check-ins.</a:t>
            </a:r>
          </a:p>
        </p:txBody>
      </p:sp>
      <p:sp>
        <p:nvSpPr>
          <p:cNvPr id="23" name="TextBox 22"/>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4" name="Rectangle 23"/>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Digital Chain of Custody</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FEATURE 03</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09</a:t>
            </a:r>
          </a:p>
        </p:txBody>
      </p:sp>
      <p:sp>
        <p:nvSpPr>
          <p:cNvPr id="6" name="TextBox 5"/>
          <p:cNvSpPr txBox="1"/>
          <p:nvPr/>
        </p:nvSpPr>
        <p:spPr>
          <a:xfrm>
            <a:off x="731520" y="1325880"/>
            <a:ext cx="10515600" cy="457200"/>
          </a:xfrm>
          <a:prstGeom prst="rect">
            <a:avLst/>
          </a:prstGeom>
          <a:noFill/>
        </p:spPr>
        <p:txBody>
          <a:bodyPr wrap="square" lIns="36576" rIns="36576" tIns="36576" bIns="36576" anchor="t">
            <a:spAutoFit/>
          </a:bodyPr>
          <a:lstStyle/>
          <a:p>
            <a:pPr algn="ctr"/>
            <a:r>
              <a:rPr sz="2600" b="1">
                <a:solidFill>
                  <a:srgbClr val="0A3422"/>
                </a:solidFill>
                <a:latin typeface="Aptos"/>
              </a:rPr>
              <a:t>A timeline that remembers every handoff.</a:t>
            </a:r>
          </a:p>
        </p:txBody>
      </p:sp>
      <p:sp>
        <p:nvSpPr>
          <p:cNvPr id="7" name="Oval 6"/>
          <p:cNvSpPr/>
          <p:nvPr/>
        </p:nvSpPr>
        <p:spPr>
          <a:xfrm>
            <a:off x="1600200" y="2286000"/>
            <a:ext cx="502920" cy="50292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2286000"/>
            <a:ext cx="502920" cy="502920"/>
          </a:xfrm>
          <a:prstGeom prst="rect">
            <a:avLst/>
          </a:prstGeom>
          <a:noFill/>
        </p:spPr>
        <p:txBody>
          <a:bodyPr wrap="square" lIns="0" rIns="0" tIns="0" bIns="0" anchor="ctr">
            <a:spAutoFit/>
          </a:bodyPr>
          <a:lstStyle/>
          <a:p>
            <a:pPr algn="ctr"/>
            <a:r>
              <a:rPr sz="1400" b="1">
                <a:solidFill>
                  <a:srgbClr val="FFFFFF"/>
                </a:solidFill>
                <a:latin typeface="Aptos"/>
              </a:rPr>
              <a:t>✓</a:t>
            </a:r>
          </a:p>
        </p:txBody>
      </p:sp>
      <p:sp>
        <p:nvSpPr>
          <p:cNvPr id="9" name="Rectangle 8"/>
          <p:cNvSpPr/>
          <p:nvPr/>
        </p:nvSpPr>
        <p:spPr>
          <a:xfrm>
            <a:off x="2103120" y="2523744"/>
            <a:ext cx="1508760" cy="32004"/>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71800"/>
            <a:ext cx="2240280" cy="274320"/>
          </a:xfrm>
          <a:prstGeom prst="rect">
            <a:avLst/>
          </a:prstGeom>
          <a:noFill/>
        </p:spPr>
        <p:txBody>
          <a:bodyPr wrap="square" lIns="36576" rIns="36576" tIns="36576" bIns="36576" anchor="t">
            <a:spAutoFit/>
          </a:bodyPr>
          <a:lstStyle/>
          <a:p>
            <a:pPr algn="ctr"/>
            <a:r>
              <a:rPr sz="1300" b="1">
                <a:solidFill>
                  <a:srgbClr val="D2A437"/>
                </a:solidFill>
                <a:latin typeface="Aptos"/>
              </a:rPr>
              <a:t>08:42</a:t>
            </a:r>
          </a:p>
        </p:txBody>
      </p:sp>
      <p:sp>
        <p:nvSpPr>
          <p:cNvPr id="11" name="TextBox 10"/>
          <p:cNvSpPr txBox="1"/>
          <p:nvPr/>
        </p:nvSpPr>
        <p:spPr>
          <a:xfrm>
            <a:off x="822960" y="3383280"/>
            <a:ext cx="2240280" cy="320040"/>
          </a:xfrm>
          <a:prstGeom prst="rect">
            <a:avLst/>
          </a:prstGeom>
          <a:noFill/>
        </p:spPr>
        <p:txBody>
          <a:bodyPr wrap="square" lIns="36576" rIns="36576" tIns="36576" bIns="36576" anchor="t">
            <a:spAutoFit/>
          </a:bodyPr>
          <a:lstStyle/>
          <a:p>
            <a:pPr algn="ctr"/>
            <a:r>
              <a:rPr sz="1300" b="1">
                <a:solidFill>
                  <a:srgbClr val="0A3422"/>
                </a:solidFill>
                <a:latin typeface="Aptos"/>
              </a:rPr>
              <a:t>Archaeologist</a:t>
            </a:r>
          </a:p>
        </p:txBody>
      </p:sp>
      <p:sp>
        <p:nvSpPr>
          <p:cNvPr id="12" name="TextBox 11"/>
          <p:cNvSpPr txBox="1"/>
          <p:nvPr/>
        </p:nvSpPr>
        <p:spPr>
          <a:xfrm>
            <a:off x="822960" y="3794760"/>
            <a:ext cx="2240280" cy="274320"/>
          </a:xfrm>
          <a:prstGeom prst="rect">
            <a:avLst/>
          </a:prstGeom>
          <a:noFill/>
        </p:spPr>
        <p:txBody>
          <a:bodyPr wrap="square" lIns="36576" rIns="36576" tIns="36576" bIns="36576" anchor="t">
            <a:spAutoFit/>
          </a:bodyPr>
          <a:lstStyle/>
          <a:p>
            <a:pPr algn="ctr"/>
            <a:r>
              <a:rPr sz="1100" b="0">
                <a:solidFill>
                  <a:srgbClr val="606962"/>
                </a:solidFill>
                <a:latin typeface="Aptos"/>
              </a:rPr>
              <a:t>Unearthed</a:t>
            </a:r>
          </a:p>
        </p:txBody>
      </p:sp>
      <p:sp>
        <p:nvSpPr>
          <p:cNvPr id="13" name="TextBox 12"/>
          <p:cNvSpPr txBox="1"/>
          <p:nvPr/>
        </p:nvSpPr>
        <p:spPr>
          <a:xfrm>
            <a:off x="822960" y="4160520"/>
            <a:ext cx="2240280" cy="274320"/>
          </a:xfrm>
          <a:prstGeom prst="rect">
            <a:avLst/>
          </a:prstGeom>
          <a:noFill/>
        </p:spPr>
        <p:txBody>
          <a:bodyPr wrap="square" lIns="36576" rIns="36576" tIns="36576" bIns="36576" anchor="t">
            <a:spAutoFit/>
          </a:bodyPr>
          <a:lstStyle/>
          <a:p>
            <a:pPr algn="ctr"/>
            <a:r>
              <a:rPr sz="1000" b="1">
                <a:solidFill>
                  <a:srgbClr val="B25B3E"/>
                </a:solidFill>
                <a:latin typeface="Aptos"/>
              </a:rPr>
              <a:t>Site A</a:t>
            </a:r>
          </a:p>
        </p:txBody>
      </p:sp>
      <p:sp>
        <p:nvSpPr>
          <p:cNvPr id="14" name="Oval 13"/>
          <p:cNvSpPr/>
          <p:nvPr/>
        </p:nvSpPr>
        <p:spPr>
          <a:xfrm>
            <a:off x="4389120" y="2286000"/>
            <a:ext cx="502920" cy="50292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286000"/>
            <a:ext cx="502920" cy="502920"/>
          </a:xfrm>
          <a:prstGeom prst="rect">
            <a:avLst/>
          </a:prstGeom>
          <a:noFill/>
        </p:spPr>
        <p:txBody>
          <a:bodyPr wrap="square" lIns="0" rIns="0" tIns="0" bIns="0" anchor="ctr">
            <a:spAutoFit/>
          </a:bodyPr>
          <a:lstStyle/>
          <a:p>
            <a:pPr algn="ctr"/>
            <a:r>
              <a:rPr sz="1400" b="1">
                <a:solidFill>
                  <a:srgbClr val="FFFFFF"/>
                </a:solidFill>
                <a:latin typeface="Aptos"/>
              </a:rPr>
              <a:t>✓</a:t>
            </a:r>
          </a:p>
        </p:txBody>
      </p:sp>
      <p:sp>
        <p:nvSpPr>
          <p:cNvPr id="16" name="Rectangle 15"/>
          <p:cNvSpPr/>
          <p:nvPr/>
        </p:nvSpPr>
        <p:spPr>
          <a:xfrm>
            <a:off x="4892040" y="2523744"/>
            <a:ext cx="1508760" cy="32004"/>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79" y="2971800"/>
            <a:ext cx="2240280" cy="274320"/>
          </a:xfrm>
          <a:prstGeom prst="rect">
            <a:avLst/>
          </a:prstGeom>
          <a:noFill/>
        </p:spPr>
        <p:txBody>
          <a:bodyPr wrap="square" lIns="36576" rIns="36576" tIns="36576" bIns="36576" anchor="t">
            <a:spAutoFit/>
          </a:bodyPr>
          <a:lstStyle/>
          <a:p>
            <a:pPr algn="ctr"/>
            <a:r>
              <a:rPr sz="1300" b="1">
                <a:solidFill>
                  <a:srgbClr val="D2A437"/>
                </a:solidFill>
                <a:latin typeface="Aptos"/>
              </a:rPr>
              <a:t>10:15</a:t>
            </a:r>
          </a:p>
        </p:txBody>
      </p:sp>
      <p:sp>
        <p:nvSpPr>
          <p:cNvPr id="18" name="TextBox 17"/>
          <p:cNvSpPr txBox="1"/>
          <p:nvPr/>
        </p:nvSpPr>
        <p:spPr>
          <a:xfrm>
            <a:off x="3611879" y="3383280"/>
            <a:ext cx="2240280" cy="320040"/>
          </a:xfrm>
          <a:prstGeom prst="rect">
            <a:avLst/>
          </a:prstGeom>
          <a:noFill/>
        </p:spPr>
        <p:txBody>
          <a:bodyPr wrap="square" lIns="36576" rIns="36576" tIns="36576" bIns="36576" anchor="t">
            <a:spAutoFit/>
          </a:bodyPr>
          <a:lstStyle/>
          <a:p>
            <a:pPr algn="ctr"/>
            <a:r>
              <a:rPr sz="1300" b="1">
                <a:solidFill>
                  <a:srgbClr val="0A3422"/>
                </a:solidFill>
                <a:latin typeface="Aptos"/>
              </a:rPr>
              <a:t>Field Officer</a:t>
            </a:r>
          </a:p>
        </p:txBody>
      </p:sp>
      <p:sp>
        <p:nvSpPr>
          <p:cNvPr id="19" name="TextBox 18"/>
          <p:cNvSpPr txBox="1"/>
          <p:nvPr/>
        </p:nvSpPr>
        <p:spPr>
          <a:xfrm>
            <a:off x="3611879" y="3794760"/>
            <a:ext cx="2240280" cy="274320"/>
          </a:xfrm>
          <a:prstGeom prst="rect">
            <a:avLst/>
          </a:prstGeom>
          <a:noFill/>
        </p:spPr>
        <p:txBody>
          <a:bodyPr wrap="square" lIns="36576" rIns="36576" tIns="36576" bIns="36576" anchor="t">
            <a:spAutoFit/>
          </a:bodyPr>
          <a:lstStyle/>
          <a:p>
            <a:pPr algn="ctr"/>
            <a:r>
              <a:rPr sz="1100" b="0">
                <a:solidFill>
                  <a:srgbClr val="606962"/>
                </a:solidFill>
                <a:latin typeface="Aptos"/>
              </a:rPr>
              <a:t>Registered</a:t>
            </a:r>
          </a:p>
        </p:txBody>
      </p:sp>
      <p:sp>
        <p:nvSpPr>
          <p:cNvPr id="20" name="TextBox 19"/>
          <p:cNvSpPr txBox="1"/>
          <p:nvPr/>
        </p:nvSpPr>
        <p:spPr>
          <a:xfrm>
            <a:off x="3611879" y="4160520"/>
            <a:ext cx="2240280" cy="274320"/>
          </a:xfrm>
          <a:prstGeom prst="rect">
            <a:avLst/>
          </a:prstGeom>
          <a:noFill/>
        </p:spPr>
        <p:txBody>
          <a:bodyPr wrap="square" lIns="36576" rIns="36576" tIns="36576" bIns="36576" anchor="t">
            <a:spAutoFit/>
          </a:bodyPr>
          <a:lstStyle/>
          <a:p>
            <a:pPr algn="ctr"/>
            <a:r>
              <a:rPr sz="1000" b="1">
                <a:solidFill>
                  <a:srgbClr val="B25B3E"/>
                </a:solidFill>
                <a:latin typeface="Aptos"/>
              </a:rPr>
              <a:t>HG-1001</a:t>
            </a:r>
          </a:p>
        </p:txBody>
      </p:sp>
      <p:sp>
        <p:nvSpPr>
          <p:cNvPr id="21" name="Oval 20"/>
          <p:cNvSpPr/>
          <p:nvPr/>
        </p:nvSpPr>
        <p:spPr>
          <a:xfrm>
            <a:off x="7178040" y="2286000"/>
            <a:ext cx="502920" cy="50292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40" y="2286000"/>
            <a:ext cx="502920" cy="502920"/>
          </a:xfrm>
          <a:prstGeom prst="rect">
            <a:avLst/>
          </a:prstGeom>
          <a:noFill/>
        </p:spPr>
        <p:txBody>
          <a:bodyPr wrap="square" lIns="0" rIns="0" tIns="0" bIns="0" anchor="ctr">
            <a:spAutoFit/>
          </a:bodyPr>
          <a:lstStyle/>
          <a:p>
            <a:pPr algn="ctr"/>
            <a:r>
              <a:rPr sz="1400" b="1">
                <a:solidFill>
                  <a:srgbClr val="FFFFFF"/>
                </a:solidFill>
                <a:latin typeface="Aptos"/>
              </a:rPr>
              <a:t>✓</a:t>
            </a:r>
          </a:p>
        </p:txBody>
      </p:sp>
      <p:sp>
        <p:nvSpPr>
          <p:cNvPr id="23" name="Rectangle 22"/>
          <p:cNvSpPr/>
          <p:nvPr/>
        </p:nvSpPr>
        <p:spPr>
          <a:xfrm>
            <a:off x="7680960" y="2523744"/>
            <a:ext cx="1508760" cy="32004"/>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971800"/>
            <a:ext cx="2240280" cy="274320"/>
          </a:xfrm>
          <a:prstGeom prst="rect">
            <a:avLst/>
          </a:prstGeom>
          <a:noFill/>
        </p:spPr>
        <p:txBody>
          <a:bodyPr wrap="square" lIns="36576" rIns="36576" tIns="36576" bIns="36576" anchor="t">
            <a:spAutoFit/>
          </a:bodyPr>
          <a:lstStyle/>
          <a:p>
            <a:pPr algn="ctr"/>
            <a:r>
              <a:rPr sz="1300" b="1">
                <a:solidFill>
                  <a:srgbClr val="D2A437"/>
                </a:solidFill>
                <a:latin typeface="Aptos"/>
              </a:rPr>
              <a:t>14:30</a:t>
            </a:r>
          </a:p>
        </p:txBody>
      </p:sp>
      <p:sp>
        <p:nvSpPr>
          <p:cNvPr id="25" name="TextBox 24"/>
          <p:cNvSpPr txBox="1"/>
          <p:nvPr/>
        </p:nvSpPr>
        <p:spPr>
          <a:xfrm>
            <a:off x="6400800" y="3383280"/>
            <a:ext cx="2240280" cy="320040"/>
          </a:xfrm>
          <a:prstGeom prst="rect">
            <a:avLst/>
          </a:prstGeom>
          <a:noFill/>
        </p:spPr>
        <p:txBody>
          <a:bodyPr wrap="square" lIns="36576" rIns="36576" tIns="36576" bIns="36576" anchor="t">
            <a:spAutoFit/>
          </a:bodyPr>
          <a:lstStyle/>
          <a:p>
            <a:pPr algn="ctr"/>
            <a:r>
              <a:rPr sz="1300" b="1">
                <a:solidFill>
                  <a:srgbClr val="0A3422"/>
                </a:solidFill>
                <a:latin typeface="Aptos"/>
              </a:rPr>
              <a:t>Museum Worker</a:t>
            </a:r>
          </a:p>
        </p:txBody>
      </p:sp>
      <p:sp>
        <p:nvSpPr>
          <p:cNvPr id="26" name="TextBox 25"/>
          <p:cNvSpPr txBox="1"/>
          <p:nvPr/>
        </p:nvSpPr>
        <p:spPr>
          <a:xfrm>
            <a:off x="6400800" y="3794760"/>
            <a:ext cx="2240280" cy="274320"/>
          </a:xfrm>
          <a:prstGeom prst="rect">
            <a:avLst/>
          </a:prstGeom>
          <a:noFill/>
        </p:spPr>
        <p:txBody>
          <a:bodyPr wrap="square" lIns="36576" rIns="36576" tIns="36576" bIns="36576" anchor="t">
            <a:spAutoFit/>
          </a:bodyPr>
          <a:lstStyle/>
          <a:p>
            <a:pPr algn="ctr"/>
            <a:r>
              <a:rPr sz="1100" b="0">
                <a:solidFill>
                  <a:srgbClr val="606962"/>
                </a:solidFill>
                <a:latin typeface="Aptos"/>
              </a:rPr>
              <a:t>Moved</a:t>
            </a:r>
          </a:p>
        </p:txBody>
      </p:sp>
      <p:sp>
        <p:nvSpPr>
          <p:cNvPr id="27" name="TextBox 26"/>
          <p:cNvSpPr txBox="1"/>
          <p:nvPr/>
        </p:nvSpPr>
        <p:spPr>
          <a:xfrm>
            <a:off x="6400800" y="4160520"/>
            <a:ext cx="2240280" cy="274320"/>
          </a:xfrm>
          <a:prstGeom prst="rect">
            <a:avLst/>
          </a:prstGeom>
          <a:noFill/>
        </p:spPr>
        <p:txBody>
          <a:bodyPr wrap="square" lIns="36576" rIns="36576" tIns="36576" bIns="36576" anchor="t">
            <a:spAutoFit/>
          </a:bodyPr>
          <a:lstStyle/>
          <a:p>
            <a:pPr algn="ctr"/>
            <a:r>
              <a:rPr sz="1000" b="1">
                <a:solidFill>
                  <a:srgbClr val="B25B3E"/>
                </a:solidFill>
                <a:latin typeface="Aptos"/>
              </a:rPr>
              <a:t>Storage B</a:t>
            </a:r>
          </a:p>
        </p:txBody>
      </p:sp>
      <p:sp>
        <p:nvSpPr>
          <p:cNvPr id="28" name="Oval 27"/>
          <p:cNvSpPr/>
          <p:nvPr/>
        </p:nvSpPr>
        <p:spPr>
          <a:xfrm>
            <a:off x="9966959" y="2286000"/>
            <a:ext cx="502920" cy="502920"/>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66959" y="2286000"/>
            <a:ext cx="502920" cy="502920"/>
          </a:xfrm>
          <a:prstGeom prst="rect">
            <a:avLst/>
          </a:prstGeom>
          <a:noFill/>
        </p:spPr>
        <p:txBody>
          <a:bodyPr wrap="square" lIns="0" rIns="0" tIns="0" bIns="0" anchor="ctr">
            <a:spAutoFit/>
          </a:bodyPr>
          <a:lstStyle/>
          <a:p>
            <a:pPr algn="ctr"/>
            <a:r>
              <a:rPr sz="1400" b="1">
                <a:solidFill>
                  <a:srgbClr val="FFFFFF"/>
                </a:solidFill>
                <a:latin typeface="Aptos"/>
              </a:rPr>
              <a:t>✓</a:t>
            </a:r>
          </a:p>
        </p:txBody>
      </p:sp>
      <p:sp>
        <p:nvSpPr>
          <p:cNvPr id="30" name="TextBox 29"/>
          <p:cNvSpPr txBox="1"/>
          <p:nvPr/>
        </p:nvSpPr>
        <p:spPr>
          <a:xfrm>
            <a:off x="9189719" y="2971800"/>
            <a:ext cx="2240280" cy="274320"/>
          </a:xfrm>
          <a:prstGeom prst="rect">
            <a:avLst/>
          </a:prstGeom>
          <a:noFill/>
        </p:spPr>
        <p:txBody>
          <a:bodyPr wrap="square" lIns="36576" rIns="36576" tIns="36576" bIns="36576" anchor="t">
            <a:spAutoFit/>
          </a:bodyPr>
          <a:lstStyle/>
          <a:p>
            <a:pPr algn="ctr"/>
            <a:r>
              <a:rPr sz="1300" b="1">
                <a:solidFill>
                  <a:srgbClr val="D2A437"/>
                </a:solidFill>
                <a:latin typeface="Aptos"/>
              </a:rPr>
              <a:t>16:05</a:t>
            </a:r>
          </a:p>
        </p:txBody>
      </p:sp>
      <p:sp>
        <p:nvSpPr>
          <p:cNvPr id="31" name="TextBox 30"/>
          <p:cNvSpPr txBox="1"/>
          <p:nvPr/>
        </p:nvSpPr>
        <p:spPr>
          <a:xfrm>
            <a:off x="9189719" y="3383280"/>
            <a:ext cx="2240280" cy="320040"/>
          </a:xfrm>
          <a:prstGeom prst="rect">
            <a:avLst/>
          </a:prstGeom>
          <a:noFill/>
        </p:spPr>
        <p:txBody>
          <a:bodyPr wrap="square" lIns="36576" rIns="36576" tIns="36576" bIns="36576" anchor="t">
            <a:spAutoFit/>
          </a:bodyPr>
          <a:lstStyle/>
          <a:p>
            <a:pPr algn="ctr"/>
            <a:r>
              <a:rPr sz="1300" b="1">
                <a:solidFill>
                  <a:srgbClr val="0A3422"/>
                </a:solidFill>
                <a:latin typeface="Aptos"/>
              </a:rPr>
              <a:t>Conservator</a:t>
            </a:r>
          </a:p>
        </p:txBody>
      </p:sp>
      <p:sp>
        <p:nvSpPr>
          <p:cNvPr id="32" name="TextBox 31"/>
          <p:cNvSpPr txBox="1"/>
          <p:nvPr/>
        </p:nvSpPr>
        <p:spPr>
          <a:xfrm>
            <a:off x="9189719" y="3794760"/>
            <a:ext cx="2240280" cy="274320"/>
          </a:xfrm>
          <a:prstGeom prst="rect">
            <a:avLst/>
          </a:prstGeom>
          <a:noFill/>
        </p:spPr>
        <p:txBody>
          <a:bodyPr wrap="square" lIns="36576" rIns="36576" tIns="36576" bIns="36576" anchor="t">
            <a:spAutoFit/>
          </a:bodyPr>
          <a:lstStyle/>
          <a:p>
            <a:pPr algn="ctr"/>
            <a:r>
              <a:rPr sz="1100" b="0">
                <a:solidFill>
                  <a:srgbClr val="606962"/>
                </a:solidFill>
                <a:latin typeface="Aptos"/>
              </a:rPr>
              <a:t>Condition OK</a:t>
            </a:r>
          </a:p>
        </p:txBody>
      </p:sp>
      <p:sp>
        <p:nvSpPr>
          <p:cNvPr id="33" name="TextBox 32"/>
          <p:cNvSpPr txBox="1"/>
          <p:nvPr/>
        </p:nvSpPr>
        <p:spPr>
          <a:xfrm>
            <a:off x="9189719" y="4160520"/>
            <a:ext cx="2240280" cy="274320"/>
          </a:xfrm>
          <a:prstGeom prst="rect">
            <a:avLst/>
          </a:prstGeom>
          <a:noFill/>
        </p:spPr>
        <p:txBody>
          <a:bodyPr wrap="square" lIns="36576" rIns="36576" tIns="36576" bIns="36576" anchor="t">
            <a:spAutoFit/>
          </a:bodyPr>
          <a:lstStyle/>
          <a:p>
            <a:pPr algn="ctr"/>
            <a:r>
              <a:rPr sz="1000" b="1">
                <a:solidFill>
                  <a:srgbClr val="B25B3E"/>
                </a:solidFill>
                <a:latin typeface="Aptos"/>
              </a:rPr>
              <a:t>Lab 02</a:t>
            </a:r>
          </a:p>
        </p:txBody>
      </p:sp>
      <p:sp>
        <p:nvSpPr>
          <p:cNvPr id="34" name="Rounded Rectangle 33"/>
          <p:cNvSpPr/>
          <p:nvPr/>
        </p:nvSpPr>
        <p:spPr>
          <a:xfrm>
            <a:off x="1463040" y="5029200"/>
            <a:ext cx="9235440" cy="640080"/>
          </a:xfrm>
          <a:prstGeom prst="roundRect">
            <a:avLst>
              <a:gd name="adj" fmla="val 12000"/>
            </a:avLst>
          </a:prstGeom>
          <a:solidFill>
            <a:srgbClr val="FCF6E1"/>
          </a:solidFill>
          <a:ln>
            <a:solidFill>
              <a:srgbClr val="FCF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45920" y="5212080"/>
            <a:ext cx="8869680" cy="274320"/>
          </a:xfrm>
          <a:prstGeom prst="rect">
            <a:avLst/>
          </a:prstGeom>
          <a:noFill/>
        </p:spPr>
        <p:txBody>
          <a:bodyPr wrap="square" lIns="36576" rIns="36576" tIns="36576" bIns="36576" anchor="t">
            <a:spAutoFit/>
          </a:bodyPr>
          <a:lstStyle/>
          <a:p>
            <a:pPr algn="ctr"/>
            <a:r>
              <a:rPr sz="1500" b="1">
                <a:solidFill>
                  <a:srgbClr val="B25B3E"/>
                </a:solidFill>
                <a:latin typeface="Aptos"/>
              </a:rPr>
              <a:t>Timestamp + user identity + location = accountability</a:t>
            </a:r>
          </a:p>
        </p:txBody>
      </p:sp>
      <p:sp>
        <p:nvSpPr>
          <p:cNvPr id="36" name="TextBox 35"/>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37" name="Rectangle 36"/>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Structured Condition Checklists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FEATURE 04</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10</a:t>
            </a:r>
          </a:p>
        </p:txBody>
      </p:sp>
      <p:sp>
        <p:nvSpPr>
          <p:cNvPr id="6" name="TextBox 5"/>
          <p:cNvSpPr txBox="1"/>
          <p:nvPr/>
        </p:nvSpPr>
        <p:spPr>
          <a:xfrm>
            <a:off x="731520" y="1280160"/>
            <a:ext cx="10515600" cy="502920"/>
          </a:xfrm>
          <a:prstGeom prst="rect">
            <a:avLst/>
          </a:prstGeom>
          <a:noFill/>
        </p:spPr>
        <p:txBody>
          <a:bodyPr wrap="square" lIns="36576" rIns="36576" tIns="36576" bIns="36576" anchor="t">
            <a:spAutoFit/>
          </a:bodyPr>
          <a:lstStyle/>
          <a:p>
            <a:pPr algn="ctr"/>
            <a:r>
              <a:rPr sz="2500" b="1">
                <a:solidFill>
                  <a:srgbClr val="0A3422"/>
                </a:solidFill>
                <a:latin typeface="Aptos"/>
              </a:rPr>
              <a:t>When damage is reported, the right questions appear.</a:t>
            </a:r>
          </a:p>
        </p:txBody>
      </p:sp>
      <p:sp>
        <p:nvSpPr>
          <p:cNvPr id="7" name="Rounded Rectangle 6"/>
          <p:cNvSpPr/>
          <p:nvPr/>
        </p:nvSpPr>
        <p:spPr>
          <a:xfrm>
            <a:off x="2926080" y="1965960"/>
            <a:ext cx="6309360" cy="3200400"/>
          </a:xfrm>
          <a:prstGeom prst="roundRect">
            <a:avLst>
              <a:gd name="adj" fmla="val 12000"/>
            </a:avLst>
          </a:prstGeom>
          <a:solidFill>
            <a:srgbClr val="FFFFFF"/>
          </a:solidFill>
          <a:ln>
            <a:solidFill>
              <a:srgbClr val="DC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2286000"/>
            <a:ext cx="5577840" cy="320040"/>
          </a:xfrm>
          <a:prstGeom prst="rect">
            <a:avLst/>
          </a:prstGeom>
          <a:noFill/>
        </p:spPr>
        <p:txBody>
          <a:bodyPr wrap="square" lIns="36576" rIns="36576" tIns="36576" bIns="36576" anchor="t">
            <a:spAutoFit/>
          </a:bodyPr>
          <a:lstStyle/>
          <a:p>
            <a:pPr algn="l"/>
            <a:r>
              <a:rPr sz="1300" b="1">
                <a:solidFill>
                  <a:srgbClr val="B25B3E"/>
                </a:solidFill>
                <a:latin typeface="Aptos"/>
              </a:rPr>
              <a:t>CONDITION CHECK  •  HG-1006</a:t>
            </a:r>
          </a:p>
        </p:txBody>
      </p:sp>
      <p:sp>
        <p:nvSpPr>
          <p:cNvPr id="9" name="Rounded Rectangle 8"/>
          <p:cNvSpPr/>
          <p:nvPr/>
        </p:nvSpPr>
        <p:spPr>
          <a:xfrm>
            <a:off x="3337560" y="2880360"/>
            <a:ext cx="228600" cy="228600"/>
          </a:xfrm>
          <a:prstGeom prst="roundRect">
            <a:avLst>
              <a:gd name="adj" fmla="val 12000"/>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816352"/>
            <a:ext cx="4389120" cy="292608"/>
          </a:xfrm>
          <a:prstGeom prst="rect">
            <a:avLst/>
          </a:prstGeom>
          <a:noFill/>
        </p:spPr>
        <p:txBody>
          <a:bodyPr wrap="square" lIns="36576" rIns="36576" tIns="36576" bIns="36576" anchor="t">
            <a:spAutoFit/>
          </a:bodyPr>
          <a:lstStyle/>
          <a:p>
            <a:pPr algn="l"/>
            <a:r>
              <a:rPr sz="1300" b="0">
                <a:solidFill>
                  <a:srgbClr val="232B26"/>
                </a:solidFill>
                <a:latin typeface="Aptos"/>
              </a:rPr>
              <a:t>Crack on surface</a:t>
            </a:r>
          </a:p>
        </p:txBody>
      </p:sp>
      <p:sp>
        <p:nvSpPr>
          <p:cNvPr id="11" name="Rounded Rectangle 10"/>
          <p:cNvSpPr/>
          <p:nvPr/>
        </p:nvSpPr>
        <p:spPr>
          <a:xfrm>
            <a:off x="3337560" y="3355848"/>
            <a:ext cx="228600" cy="228600"/>
          </a:xfrm>
          <a:prstGeom prst="roundRect">
            <a:avLst>
              <a:gd name="adj" fmla="val 12000"/>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3291840"/>
            <a:ext cx="4389120" cy="292608"/>
          </a:xfrm>
          <a:prstGeom prst="rect">
            <a:avLst/>
          </a:prstGeom>
          <a:noFill/>
        </p:spPr>
        <p:txBody>
          <a:bodyPr wrap="square" lIns="36576" rIns="36576" tIns="36576" bIns="36576" anchor="t">
            <a:spAutoFit/>
          </a:bodyPr>
          <a:lstStyle/>
          <a:p>
            <a:pPr algn="l"/>
            <a:r>
              <a:rPr sz="1300" b="0">
                <a:solidFill>
                  <a:srgbClr val="232B26"/>
                </a:solidFill>
                <a:latin typeface="Aptos"/>
              </a:rPr>
              <a:t>Missing fragment</a:t>
            </a:r>
          </a:p>
        </p:txBody>
      </p:sp>
      <p:sp>
        <p:nvSpPr>
          <p:cNvPr id="13" name="Rounded Rectangle 12"/>
          <p:cNvSpPr/>
          <p:nvPr/>
        </p:nvSpPr>
        <p:spPr>
          <a:xfrm>
            <a:off x="3337560" y="3831335"/>
            <a:ext cx="228600" cy="228600"/>
          </a:xfrm>
          <a:prstGeom prst="roundRect">
            <a:avLst>
              <a:gd name="adj" fmla="val 12000"/>
            </a:avLst>
          </a:prstGeom>
          <a:solidFill>
            <a:srgbClr val="F6EED7"/>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3767328"/>
            <a:ext cx="4389120" cy="292608"/>
          </a:xfrm>
          <a:prstGeom prst="rect">
            <a:avLst/>
          </a:prstGeom>
          <a:noFill/>
        </p:spPr>
        <p:txBody>
          <a:bodyPr wrap="square" lIns="36576" rIns="36576" tIns="36576" bIns="36576" anchor="t">
            <a:spAutoFit/>
          </a:bodyPr>
          <a:lstStyle/>
          <a:p>
            <a:pPr algn="l"/>
            <a:r>
              <a:rPr sz="1300" b="0">
                <a:solidFill>
                  <a:srgbClr val="232B26"/>
                </a:solidFill>
                <a:latin typeface="Aptos"/>
              </a:rPr>
              <a:t>Surface erosion</a:t>
            </a:r>
          </a:p>
        </p:txBody>
      </p:sp>
      <p:sp>
        <p:nvSpPr>
          <p:cNvPr id="15" name="Rounded Rectangle 14"/>
          <p:cNvSpPr/>
          <p:nvPr/>
        </p:nvSpPr>
        <p:spPr>
          <a:xfrm>
            <a:off x="3337560" y="4306824"/>
            <a:ext cx="228600" cy="228600"/>
          </a:xfrm>
          <a:prstGeom prst="roundRect">
            <a:avLst>
              <a:gd name="adj" fmla="val 12000"/>
            </a:avLst>
          </a:prstGeom>
          <a:solidFill>
            <a:srgbClr val="F6EED7"/>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4242816"/>
            <a:ext cx="4389120" cy="292608"/>
          </a:xfrm>
          <a:prstGeom prst="rect">
            <a:avLst/>
          </a:prstGeom>
          <a:noFill/>
        </p:spPr>
        <p:txBody>
          <a:bodyPr wrap="square" lIns="36576" rIns="36576" tIns="36576" bIns="36576" anchor="t">
            <a:spAutoFit/>
          </a:bodyPr>
          <a:lstStyle/>
          <a:p>
            <a:pPr algn="l"/>
            <a:r>
              <a:rPr sz="1300" b="0">
                <a:solidFill>
                  <a:srgbClr val="232B26"/>
                </a:solidFill>
                <a:latin typeface="Aptos"/>
              </a:rPr>
              <a:t>Other visible damage</a:t>
            </a:r>
          </a:p>
        </p:txBody>
      </p:sp>
      <p:sp>
        <p:nvSpPr>
          <p:cNvPr id="17" name="TextBox 16"/>
          <p:cNvSpPr txBox="1"/>
          <p:nvPr/>
        </p:nvSpPr>
        <p:spPr>
          <a:xfrm>
            <a:off x="2651760" y="5577840"/>
            <a:ext cx="6858000" cy="320040"/>
          </a:xfrm>
          <a:prstGeom prst="rect">
            <a:avLst/>
          </a:prstGeom>
          <a:noFill/>
        </p:spPr>
        <p:txBody>
          <a:bodyPr wrap="square" lIns="36576" rIns="36576" tIns="36576" bIns="36576" anchor="t">
            <a:spAutoFit/>
          </a:bodyPr>
          <a:lstStyle/>
          <a:p>
            <a:pPr algn="ctr"/>
            <a:r>
              <a:rPr sz="1500" b="1">
                <a:solidFill>
                  <a:srgbClr val="135334"/>
                </a:solidFill>
                <a:latin typeface="Aptos"/>
              </a:rPr>
              <a:t>Consistent reports → better conservation decisions</a:t>
            </a:r>
          </a:p>
        </p:txBody>
      </p:sp>
      <p:sp>
        <p:nvSpPr>
          <p:cNvPr id="18" name="TextBox 17"/>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19" name="Rectangle 18"/>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High-Value Watchlist</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FEATURE 05</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11</a:t>
            </a:r>
          </a:p>
        </p:txBody>
      </p:sp>
      <p:sp>
        <p:nvSpPr>
          <p:cNvPr id="6" name="TextBox 5"/>
          <p:cNvSpPr txBox="1"/>
          <p:nvPr/>
        </p:nvSpPr>
        <p:spPr>
          <a:xfrm>
            <a:off x="731520" y="1325880"/>
            <a:ext cx="10515600" cy="502920"/>
          </a:xfrm>
          <a:prstGeom prst="rect">
            <a:avLst/>
          </a:prstGeom>
          <a:noFill/>
        </p:spPr>
        <p:txBody>
          <a:bodyPr wrap="square" lIns="36576" rIns="36576" tIns="36576" bIns="36576" anchor="t">
            <a:spAutoFit/>
          </a:bodyPr>
          <a:lstStyle/>
          <a:p>
            <a:pPr algn="ctr"/>
            <a:r>
              <a:rPr sz="2800" b="1">
                <a:solidFill>
                  <a:srgbClr val="0A3422"/>
                </a:solidFill>
                <a:latin typeface="Aptos"/>
              </a:rPr>
              <a:t>Put critical artifacts first.</a:t>
            </a:r>
          </a:p>
        </p:txBody>
      </p:sp>
      <p:sp>
        <p:nvSpPr>
          <p:cNvPr id="7" name="Rounded Rectangle 6"/>
          <p:cNvSpPr/>
          <p:nvPr/>
        </p:nvSpPr>
        <p:spPr>
          <a:xfrm>
            <a:off x="1005840" y="2148840"/>
            <a:ext cx="2971800" cy="201168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05840" y="2148840"/>
            <a:ext cx="64008" cy="201168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34440" y="240487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2404872"/>
            <a:ext cx="438912" cy="438912"/>
          </a:xfrm>
          <a:prstGeom prst="rect">
            <a:avLst/>
          </a:prstGeom>
          <a:noFill/>
        </p:spPr>
        <p:txBody>
          <a:bodyPr wrap="square" lIns="0" rIns="0" tIns="0" bIns="0" anchor="ctr">
            <a:spAutoFit/>
          </a:bodyPr>
          <a:lstStyle/>
          <a:p>
            <a:pPr algn="ctr"/>
            <a:r>
              <a:rPr sz="1100" b="1">
                <a:solidFill>
                  <a:srgbClr val="FFFFFF"/>
                </a:solidFill>
                <a:latin typeface="Aptos"/>
              </a:rPr>
              <a:t>★</a:t>
            </a:r>
          </a:p>
        </p:txBody>
      </p:sp>
      <p:sp>
        <p:nvSpPr>
          <p:cNvPr id="11" name="TextBox 10"/>
          <p:cNvSpPr txBox="1"/>
          <p:nvPr/>
        </p:nvSpPr>
        <p:spPr>
          <a:xfrm>
            <a:off x="1828800" y="2368296"/>
            <a:ext cx="1920240" cy="320040"/>
          </a:xfrm>
          <a:prstGeom prst="rect">
            <a:avLst/>
          </a:prstGeom>
          <a:noFill/>
        </p:spPr>
        <p:txBody>
          <a:bodyPr wrap="square" lIns="36576" rIns="36576" tIns="36576" bIns="36576" anchor="t">
            <a:spAutoFit/>
          </a:bodyPr>
          <a:lstStyle/>
          <a:p>
            <a:pPr algn="l"/>
            <a:r>
              <a:rPr sz="1500" b="1">
                <a:solidFill>
                  <a:srgbClr val="0A3422"/>
                </a:solidFill>
                <a:latin typeface="Aptos"/>
              </a:rPr>
              <a:t>HG-1001</a:t>
            </a:r>
          </a:p>
        </p:txBody>
      </p:sp>
      <p:sp>
        <p:nvSpPr>
          <p:cNvPr id="12" name="TextBox 11"/>
          <p:cNvSpPr txBox="1"/>
          <p:nvPr/>
        </p:nvSpPr>
        <p:spPr>
          <a:xfrm>
            <a:off x="1828800" y="2807208"/>
            <a:ext cx="1874520" cy="1188720"/>
          </a:xfrm>
          <a:prstGeom prst="rect">
            <a:avLst/>
          </a:prstGeom>
          <a:noFill/>
        </p:spPr>
        <p:txBody>
          <a:bodyPr wrap="square" lIns="36576" rIns="36576" tIns="36576" bIns="36576" anchor="t">
            <a:spAutoFit/>
          </a:bodyPr>
          <a:lstStyle/>
          <a:p>
            <a:pPr algn="l"/>
            <a:r>
              <a:rPr sz="1150" b="0">
                <a:solidFill>
                  <a:srgbClr val="606962"/>
                </a:solidFill>
                <a:latin typeface="Aptos"/>
              </a:rPr>
              <a:t>Bronze ceremonial object
WATCHLIST ★</a:t>
            </a:r>
          </a:p>
        </p:txBody>
      </p:sp>
      <p:sp>
        <p:nvSpPr>
          <p:cNvPr id="13" name="Rounded Rectangle 12"/>
          <p:cNvSpPr/>
          <p:nvPr/>
        </p:nvSpPr>
        <p:spPr>
          <a:xfrm>
            <a:off x="4617720" y="2148840"/>
            <a:ext cx="2971800" cy="201168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17720" y="2148840"/>
            <a:ext cx="64008" cy="201168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46320" y="240487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2404872"/>
            <a:ext cx="438912" cy="438912"/>
          </a:xfrm>
          <a:prstGeom prst="rect">
            <a:avLst/>
          </a:prstGeom>
          <a:noFill/>
        </p:spPr>
        <p:txBody>
          <a:bodyPr wrap="square" lIns="0" rIns="0" tIns="0" bIns="0" anchor="ctr">
            <a:spAutoFit/>
          </a:bodyPr>
          <a:lstStyle/>
          <a:p>
            <a:pPr algn="ctr"/>
            <a:r>
              <a:rPr sz="1100" b="1">
                <a:solidFill>
                  <a:srgbClr val="FFFFFF"/>
                </a:solidFill>
                <a:latin typeface="Aptos"/>
              </a:rPr>
              <a:t>★</a:t>
            </a:r>
          </a:p>
        </p:txBody>
      </p:sp>
      <p:sp>
        <p:nvSpPr>
          <p:cNvPr id="17" name="TextBox 16"/>
          <p:cNvSpPr txBox="1"/>
          <p:nvPr/>
        </p:nvSpPr>
        <p:spPr>
          <a:xfrm>
            <a:off x="5440680" y="2368296"/>
            <a:ext cx="1920239" cy="320040"/>
          </a:xfrm>
          <a:prstGeom prst="rect">
            <a:avLst/>
          </a:prstGeom>
          <a:noFill/>
        </p:spPr>
        <p:txBody>
          <a:bodyPr wrap="square" lIns="36576" rIns="36576" tIns="36576" bIns="36576" anchor="t">
            <a:spAutoFit/>
          </a:bodyPr>
          <a:lstStyle/>
          <a:p>
            <a:pPr algn="l"/>
            <a:r>
              <a:rPr sz="1500" b="1">
                <a:solidFill>
                  <a:srgbClr val="0A3422"/>
                </a:solidFill>
                <a:latin typeface="Aptos"/>
              </a:rPr>
              <a:t>HG-1007</a:t>
            </a:r>
          </a:p>
        </p:txBody>
      </p:sp>
      <p:sp>
        <p:nvSpPr>
          <p:cNvPr id="18" name="TextBox 17"/>
          <p:cNvSpPr txBox="1"/>
          <p:nvPr/>
        </p:nvSpPr>
        <p:spPr>
          <a:xfrm>
            <a:off x="5440680" y="2807208"/>
            <a:ext cx="1874519" cy="1188720"/>
          </a:xfrm>
          <a:prstGeom prst="rect">
            <a:avLst/>
          </a:prstGeom>
          <a:noFill/>
        </p:spPr>
        <p:txBody>
          <a:bodyPr wrap="square" lIns="36576" rIns="36576" tIns="36576" bIns="36576" anchor="t">
            <a:spAutoFit/>
          </a:bodyPr>
          <a:lstStyle/>
          <a:p>
            <a:pPr algn="l"/>
            <a:r>
              <a:rPr sz="1150" b="0">
                <a:solidFill>
                  <a:srgbClr val="606962"/>
                </a:solidFill>
                <a:latin typeface="Aptos"/>
              </a:rPr>
              <a:t>Fragile pottery fragment
WATCHLIST ★</a:t>
            </a:r>
          </a:p>
        </p:txBody>
      </p:sp>
      <p:sp>
        <p:nvSpPr>
          <p:cNvPr id="19" name="Rounded Rectangle 18"/>
          <p:cNvSpPr/>
          <p:nvPr/>
        </p:nvSpPr>
        <p:spPr>
          <a:xfrm>
            <a:off x="8229600" y="2148840"/>
            <a:ext cx="2971800" cy="201168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2148840"/>
            <a:ext cx="64008" cy="201168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58200" y="240487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2404872"/>
            <a:ext cx="438912" cy="438912"/>
          </a:xfrm>
          <a:prstGeom prst="rect">
            <a:avLst/>
          </a:prstGeom>
          <a:noFill/>
        </p:spPr>
        <p:txBody>
          <a:bodyPr wrap="square" lIns="0" rIns="0" tIns="0" bIns="0" anchor="ctr">
            <a:spAutoFit/>
          </a:bodyPr>
          <a:lstStyle/>
          <a:p>
            <a:pPr algn="ctr"/>
            <a:r>
              <a:rPr sz="1100" b="1">
                <a:solidFill>
                  <a:srgbClr val="FFFFFF"/>
                </a:solidFill>
                <a:latin typeface="Aptos"/>
              </a:rPr>
              <a:t>★</a:t>
            </a:r>
          </a:p>
        </p:txBody>
      </p:sp>
      <p:sp>
        <p:nvSpPr>
          <p:cNvPr id="23" name="TextBox 22"/>
          <p:cNvSpPr txBox="1"/>
          <p:nvPr/>
        </p:nvSpPr>
        <p:spPr>
          <a:xfrm>
            <a:off x="9052560" y="2368296"/>
            <a:ext cx="1920239" cy="320040"/>
          </a:xfrm>
          <a:prstGeom prst="rect">
            <a:avLst/>
          </a:prstGeom>
          <a:noFill/>
        </p:spPr>
        <p:txBody>
          <a:bodyPr wrap="square" lIns="36576" rIns="36576" tIns="36576" bIns="36576" anchor="t">
            <a:spAutoFit/>
          </a:bodyPr>
          <a:lstStyle/>
          <a:p>
            <a:pPr algn="l"/>
            <a:r>
              <a:rPr sz="1500" b="1">
                <a:solidFill>
                  <a:srgbClr val="0A3422"/>
                </a:solidFill>
                <a:latin typeface="Aptos"/>
              </a:rPr>
              <a:t>HG-1012</a:t>
            </a:r>
          </a:p>
        </p:txBody>
      </p:sp>
      <p:sp>
        <p:nvSpPr>
          <p:cNvPr id="24" name="TextBox 23"/>
          <p:cNvSpPr txBox="1"/>
          <p:nvPr/>
        </p:nvSpPr>
        <p:spPr>
          <a:xfrm>
            <a:off x="9052560" y="2807208"/>
            <a:ext cx="1874519" cy="1188720"/>
          </a:xfrm>
          <a:prstGeom prst="rect">
            <a:avLst/>
          </a:prstGeom>
          <a:noFill/>
        </p:spPr>
        <p:txBody>
          <a:bodyPr wrap="square" lIns="36576" rIns="36576" tIns="36576" bIns="36576" anchor="t">
            <a:spAutoFit/>
          </a:bodyPr>
          <a:lstStyle/>
          <a:p>
            <a:pPr algn="l"/>
            <a:r>
              <a:rPr sz="1150" b="0">
                <a:solidFill>
                  <a:srgbClr val="606962"/>
                </a:solidFill>
                <a:latin typeface="Aptos"/>
              </a:rPr>
              <a:t>Rare carved artifact
WATCHLIST ★</a:t>
            </a:r>
          </a:p>
        </p:txBody>
      </p:sp>
      <p:sp>
        <p:nvSpPr>
          <p:cNvPr id="25" name="TextBox 24"/>
          <p:cNvSpPr txBox="1"/>
          <p:nvPr/>
        </p:nvSpPr>
        <p:spPr>
          <a:xfrm>
            <a:off x="1280160" y="4983480"/>
            <a:ext cx="9601200" cy="502920"/>
          </a:xfrm>
          <a:prstGeom prst="rect">
            <a:avLst/>
          </a:prstGeom>
          <a:noFill/>
        </p:spPr>
        <p:txBody>
          <a:bodyPr wrap="square" lIns="36576" rIns="36576" tIns="36576" bIns="36576" anchor="t">
            <a:spAutoFit/>
          </a:bodyPr>
          <a:lstStyle/>
          <a:p>
            <a:pPr algn="ctr"/>
            <a:r>
              <a:rPr sz="1700" b="0">
                <a:solidFill>
                  <a:srgbClr val="606962"/>
                </a:solidFill>
                <a:latin typeface="Aptos"/>
              </a:rPr>
              <a:t>Single-click flagging moves fragile or highly valuable pieces to priority monitoring.</a:t>
            </a:r>
          </a:p>
        </p:txBody>
      </p:sp>
      <p:sp>
        <p:nvSpPr>
          <p:cNvPr id="26" name="TextBox 25"/>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7" name="Rectangle 26"/>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Automated Reports &amp; Logs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FEATURE 06</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12</a:t>
            </a:r>
          </a:p>
        </p:txBody>
      </p:sp>
      <p:sp>
        <p:nvSpPr>
          <p:cNvPr id="6" name="TextBox 5"/>
          <p:cNvSpPr txBox="1"/>
          <p:nvPr/>
        </p:nvSpPr>
        <p:spPr>
          <a:xfrm>
            <a:off x="731520" y="1325880"/>
            <a:ext cx="10515600" cy="502920"/>
          </a:xfrm>
          <a:prstGeom prst="rect">
            <a:avLst/>
          </a:prstGeom>
          <a:noFill/>
        </p:spPr>
        <p:txBody>
          <a:bodyPr wrap="square" lIns="36576" rIns="36576" tIns="36576" bIns="36576" anchor="t">
            <a:spAutoFit/>
          </a:bodyPr>
          <a:lstStyle/>
          <a:p>
            <a:pPr algn="ctr"/>
            <a:r>
              <a:rPr sz="2700" b="1">
                <a:solidFill>
                  <a:srgbClr val="0A3422"/>
                </a:solidFill>
                <a:latin typeface="Aptos"/>
              </a:rPr>
              <a:t>Turn activity into evidence.</a:t>
            </a:r>
          </a:p>
        </p:txBody>
      </p:sp>
      <p:sp>
        <p:nvSpPr>
          <p:cNvPr id="7" name="Rounded Rectangle 6"/>
          <p:cNvSpPr/>
          <p:nvPr/>
        </p:nvSpPr>
        <p:spPr>
          <a:xfrm>
            <a:off x="822960" y="2148840"/>
            <a:ext cx="3383280" cy="18288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148840"/>
            <a:ext cx="64008" cy="1828800"/>
          </a:xfrm>
          <a:prstGeom prst="rect">
            <a:avLst/>
          </a:prstGeom>
          <a:solidFill>
            <a:srgbClr val="B1342D"/>
          </a:solidFill>
          <a:ln>
            <a:solidFill>
              <a:srgbClr val="B13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404872"/>
            <a:ext cx="438912" cy="438912"/>
          </a:xfrm>
          <a:prstGeom prst="ellipse">
            <a:avLst/>
          </a:prstGeom>
          <a:solidFill>
            <a:srgbClr val="B1342D"/>
          </a:solidFill>
          <a:ln>
            <a:solidFill>
              <a:srgbClr val="B13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404872"/>
            <a:ext cx="438912" cy="438912"/>
          </a:xfrm>
          <a:prstGeom prst="rect">
            <a:avLst/>
          </a:prstGeom>
          <a:noFill/>
        </p:spPr>
        <p:txBody>
          <a:bodyPr wrap="square" lIns="0" rIns="0" tIns="0" bIns="0" anchor="ctr">
            <a:spAutoFit/>
          </a:bodyPr>
          <a:lstStyle/>
          <a:p>
            <a:pPr algn="ctr"/>
            <a:r>
              <a:rPr sz="1100" b="1">
                <a:solidFill>
                  <a:srgbClr val="FFFFFF"/>
                </a:solidFill>
                <a:latin typeface="Aptos"/>
              </a:rPr>
              <a:t>01</a:t>
            </a:r>
          </a:p>
        </p:txBody>
      </p:sp>
      <p:sp>
        <p:nvSpPr>
          <p:cNvPr id="11" name="TextBox 10"/>
          <p:cNvSpPr txBox="1"/>
          <p:nvPr/>
        </p:nvSpPr>
        <p:spPr>
          <a:xfrm>
            <a:off x="1645920" y="236829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PROBLEM ITEMS</a:t>
            </a:r>
          </a:p>
        </p:txBody>
      </p:sp>
      <p:sp>
        <p:nvSpPr>
          <p:cNvPr id="12" name="TextBox 11"/>
          <p:cNvSpPr txBox="1"/>
          <p:nvPr/>
        </p:nvSpPr>
        <p:spPr>
          <a:xfrm>
            <a:off x="1645920" y="2807208"/>
            <a:ext cx="2286000" cy="1005840"/>
          </a:xfrm>
          <a:prstGeom prst="rect">
            <a:avLst/>
          </a:prstGeom>
          <a:noFill/>
        </p:spPr>
        <p:txBody>
          <a:bodyPr wrap="square" lIns="36576" rIns="36576" tIns="36576" bIns="36576" anchor="t">
            <a:spAutoFit/>
          </a:bodyPr>
          <a:lstStyle/>
          <a:p>
            <a:pPr algn="l"/>
            <a:r>
              <a:rPr sz="1150" b="0">
                <a:solidFill>
                  <a:srgbClr val="606962"/>
                </a:solidFill>
                <a:latin typeface="Aptos"/>
              </a:rPr>
              <a:t>Broken + stolen artifacts</a:t>
            </a:r>
          </a:p>
        </p:txBody>
      </p:sp>
      <p:sp>
        <p:nvSpPr>
          <p:cNvPr id="13" name="Rounded Rectangle 12"/>
          <p:cNvSpPr/>
          <p:nvPr/>
        </p:nvSpPr>
        <p:spPr>
          <a:xfrm>
            <a:off x="4617720" y="2148840"/>
            <a:ext cx="3383280" cy="18288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17720" y="2148840"/>
            <a:ext cx="64008" cy="182880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46320" y="2404872"/>
            <a:ext cx="438912" cy="438912"/>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2404872"/>
            <a:ext cx="438912" cy="438912"/>
          </a:xfrm>
          <a:prstGeom prst="rect">
            <a:avLst/>
          </a:prstGeom>
          <a:noFill/>
        </p:spPr>
        <p:txBody>
          <a:bodyPr wrap="square" lIns="0" rIns="0" tIns="0" bIns="0" anchor="ctr">
            <a:spAutoFit/>
          </a:bodyPr>
          <a:lstStyle/>
          <a:p>
            <a:pPr algn="ctr"/>
            <a:r>
              <a:rPr sz="1100" b="1">
                <a:solidFill>
                  <a:srgbClr val="FFFFFF"/>
                </a:solidFill>
                <a:latin typeface="Aptos"/>
              </a:rPr>
              <a:t>02</a:t>
            </a:r>
          </a:p>
        </p:txBody>
      </p:sp>
      <p:sp>
        <p:nvSpPr>
          <p:cNvPr id="17" name="TextBox 16"/>
          <p:cNvSpPr txBox="1"/>
          <p:nvPr/>
        </p:nvSpPr>
        <p:spPr>
          <a:xfrm>
            <a:off x="5440680" y="236829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LOCATION DISTRIBUTION</a:t>
            </a:r>
          </a:p>
        </p:txBody>
      </p:sp>
      <p:sp>
        <p:nvSpPr>
          <p:cNvPr id="18" name="TextBox 17"/>
          <p:cNvSpPr txBox="1"/>
          <p:nvPr/>
        </p:nvSpPr>
        <p:spPr>
          <a:xfrm>
            <a:off x="5440680" y="2807208"/>
            <a:ext cx="2286000" cy="1005840"/>
          </a:xfrm>
          <a:prstGeom prst="rect">
            <a:avLst/>
          </a:prstGeom>
          <a:noFill/>
        </p:spPr>
        <p:txBody>
          <a:bodyPr wrap="square" lIns="36576" rIns="36576" tIns="36576" bIns="36576" anchor="t">
            <a:spAutoFit/>
          </a:bodyPr>
          <a:lstStyle/>
          <a:p>
            <a:pPr algn="l"/>
            <a:r>
              <a:rPr sz="1150" b="0">
                <a:solidFill>
                  <a:srgbClr val="606962"/>
                </a:solidFill>
                <a:latin typeface="Aptos"/>
              </a:rPr>
              <a:t>Where artifacts are now</a:t>
            </a:r>
          </a:p>
        </p:txBody>
      </p:sp>
      <p:sp>
        <p:nvSpPr>
          <p:cNvPr id="19" name="Rounded Rectangle 18"/>
          <p:cNvSpPr/>
          <p:nvPr/>
        </p:nvSpPr>
        <p:spPr>
          <a:xfrm>
            <a:off x="8412480" y="2148840"/>
            <a:ext cx="3383280" cy="18288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0" y="2148840"/>
            <a:ext cx="64008" cy="182880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41080" y="240487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2404872"/>
            <a:ext cx="438912" cy="438912"/>
          </a:xfrm>
          <a:prstGeom prst="rect">
            <a:avLst/>
          </a:prstGeom>
          <a:noFill/>
        </p:spPr>
        <p:txBody>
          <a:bodyPr wrap="square" lIns="0" rIns="0" tIns="0" bIns="0" anchor="ctr">
            <a:spAutoFit/>
          </a:bodyPr>
          <a:lstStyle/>
          <a:p>
            <a:pPr algn="ctr"/>
            <a:r>
              <a:rPr sz="1100" b="1">
                <a:solidFill>
                  <a:srgbClr val="FFFFFF"/>
                </a:solidFill>
                <a:latin typeface="Aptos"/>
              </a:rPr>
              <a:t>03</a:t>
            </a:r>
          </a:p>
        </p:txBody>
      </p:sp>
      <p:sp>
        <p:nvSpPr>
          <p:cNvPr id="23" name="TextBox 22"/>
          <p:cNvSpPr txBox="1"/>
          <p:nvPr/>
        </p:nvSpPr>
        <p:spPr>
          <a:xfrm>
            <a:off x="9235440" y="236829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USER ACTIVITY</a:t>
            </a:r>
          </a:p>
        </p:txBody>
      </p:sp>
      <p:sp>
        <p:nvSpPr>
          <p:cNvPr id="24" name="TextBox 23"/>
          <p:cNvSpPr txBox="1"/>
          <p:nvPr/>
        </p:nvSpPr>
        <p:spPr>
          <a:xfrm>
            <a:off x="9235440" y="2807208"/>
            <a:ext cx="2286000" cy="1005840"/>
          </a:xfrm>
          <a:prstGeom prst="rect">
            <a:avLst/>
          </a:prstGeom>
          <a:noFill/>
        </p:spPr>
        <p:txBody>
          <a:bodyPr wrap="square" lIns="36576" rIns="36576" tIns="36576" bIns="36576" anchor="t">
            <a:spAutoFit/>
          </a:bodyPr>
          <a:lstStyle/>
          <a:p>
            <a:pPr algn="l"/>
            <a:r>
              <a:rPr sz="1150" b="0">
                <a:solidFill>
                  <a:srgbClr val="606962"/>
                </a:solidFill>
                <a:latin typeface="Aptos"/>
              </a:rPr>
              <a:t>Complete audit feed</a:t>
            </a:r>
          </a:p>
        </p:txBody>
      </p:sp>
      <p:sp>
        <p:nvSpPr>
          <p:cNvPr id="25" name="Rounded Rectangle 24"/>
          <p:cNvSpPr/>
          <p:nvPr/>
        </p:nvSpPr>
        <p:spPr>
          <a:xfrm>
            <a:off x="1828800" y="4754880"/>
            <a:ext cx="8503920" cy="68580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11680" y="4937760"/>
            <a:ext cx="8138160" cy="274320"/>
          </a:xfrm>
          <a:prstGeom prst="rect">
            <a:avLst/>
          </a:prstGeom>
          <a:noFill/>
        </p:spPr>
        <p:txBody>
          <a:bodyPr wrap="square" lIns="36576" rIns="36576" tIns="36576" bIns="36576" anchor="t">
            <a:spAutoFit/>
          </a:bodyPr>
          <a:lstStyle/>
          <a:p>
            <a:pPr algn="ctr"/>
            <a:r>
              <a:rPr sz="1400" b="1">
                <a:solidFill>
                  <a:srgbClr val="FFFFFF"/>
                </a:solidFill>
                <a:latin typeface="Aptos"/>
              </a:rPr>
              <a:t>Generate → Print → Share with stakeholders or law enforcement</a:t>
            </a:r>
          </a:p>
        </p:txBody>
      </p:sp>
      <p:sp>
        <p:nvSpPr>
          <p:cNvPr id="27" name="TextBox 26"/>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8" name="Rectangle 27"/>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UI &amp; UX: Heritage Meets Modern</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DESIGN SYSTEM</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13</a:t>
            </a:r>
          </a:p>
        </p:txBody>
      </p:sp>
      <p:sp>
        <p:nvSpPr>
          <p:cNvPr id="6" name="TextBox 5"/>
          <p:cNvSpPr txBox="1"/>
          <p:nvPr/>
        </p:nvSpPr>
        <p:spPr>
          <a:xfrm>
            <a:off x="777240" y="1325880"/>
            <a:ext cx="2926080" cy="274320"/>
          </a:xfrm>
          <a:prstGeom prst="rect">
            <a:avLst/>
          </a:prstGeom>
          <a:noFill/>
        </p:spPr>
        <p:txBody>
          <a:bodyPr wrap="square" lIns="36576" rIns="36576" tIns="36576" bIns="36576" anchor="t">
            <a:spAutoFit/>
          </a:bodyPr>
          <a:lstStyle/>
          <a:p>
            <a:pPr algn="l"/>
            <a:r>
              <a:rPr sz="1200" b="1">
                <a:solidFill>
                  <a:srgbClr val="B25B3E"/>
                </a:solidFill>
                <a:latin typeface="Aptos"/>
              </a:rPr>
              <a:t>VISUAL IDENTITY</a:t>
            </a:r>
          </a:p>
        </p:txBody>
      </p:sp>
      <p:sp>
        <p:nvSpPr>
          <p:cNvPr id="7" name="Rounded Rectangle 6"/>
          <p:cNvSpPr/>
          <p:nvPr/>
        </p:nvSpPr>
        <p:spPr>
          <a:xfrm>
            <a:off x="777240" y="1783080"/>
            <a:ext cx="749808" cy="749808"/>
          </a:xfrm>
          <a:prstGeom prst="roundRect">
            <a:avLst>
              <a:gd name="adj" fmla="val 12000"/>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633472"/>
            <a:ext cx="1005840" cy="274320"/>
          </a:xfrm>
          <a:prstGeom prst="rect">
            <a:avLst/>
          </a:prstGeom>
          <a:noFill/>
        </p:spPr>
        <p:txBody>
          <a:bodyPr wrap="square" lIns="36576" rIns="36576" tIns="36576" bIns="36576" anchor="t">
            <a:spAutoFit/>
          </a:bodyPr>
          <a:lstStyle/>
          <a:p>
            <a:pPr algn="ctr"/>
            <a:r>
              <a:rPr sz="900" b="0">
                <a:solidFill>
                  <a:srgbClr val="606962"/>
                </a:solidFill>
                <a:latin typeface="Aptos"/>
              </a:rPr>
              <a:t>Terracotta</a:t>
            </a:r>
          </a:p>
        </p:txBody>
      </p:sp>
      <p:sp>
        <p:nvSpPr>
          <p:cNvPr id="9" name="Rounded Rectangle 8"/>
          <p:cNvSpPr/>
          <p:nvPr/>
        </p:nvSpPr>
        <p:spPr>
          <a:xfrm>
            <a:off x="1737360" y="1783080"/>
            <a:ext cx="749808" cy="749808"/>
          </a:xfrm>
          <a:prstGeom prst="roundRect">
            <a:avLst>
              <a:gd name="adj" fmla="val 12000"/>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2633472"/>
            <a:ext cx="1005840" cy="274320"/>
          </a:xfrm>
          <a:prstGeom prst="rect">
            <a:avLst/>
          </a:prstGeom>
          <a:noFill/>
        </p:spPr>
        <p:txBody>
          <a:bodyPr wrap="square" lIns="36576" rIns="36576" tIns="36576" bIns="36576" anchor="t">
            <a:spAutoFit/>
          </a:bodyPr>
          <a:lstStyle/>
          <a:p>
            <a:pPr algn="ctr"/>
            <a:r>
              <a:rPr sz="900" b="0">
                <a:solidFill>
                  <a:srgbClr val="606962"/>
                </a:solidFill>
                <a:latin typeface="Aptos"/>
              </a:rPr>
              <a:t>Gold</a:t>
            </a:r>
          </a:p>
        </p:txBody>
      </p:sp>
      <p:sp>
        <p:nvSpPr>
          <p:cNvPr id="11" name="Rounded Rectangle 10"/>
          <p:cNvSpPr/>
          <p:nvPr/>
        </p:nvSpPr>
        <p:spPr>
          <a:xfrm>
            <a:off x="2697480" y="1783080"/>
            <a:ext cx="749808" cy="749808"/>
          </a:xfrm>
          <a:prstGeom prst="roundRect">
            <a:avLst>
              <a:gd name="adj" fmla="val 12000"/>
            </a:avLst>
          </a:prstGeom>
          <a:solidFill>
            <a:srgbClr val="F6EED7"/>
          </a:solidFill>
          <a:ln>
            <a:solidFill>
              <a:srgbClr val="F6E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2633472"/>
            <a:ext cx="1005840" cy="274320"/>
          </a:xfrm>
          <a:prstGeom prst="rect">
            <a:avLst/>
          </a:prstGeom>
          <a:noFill/>
        </p:spPr>
        <p:txBody>
          <a:bodyPr wrap="square" lIns="36576" rIns="36576" tIns="36576" bIns="36576" anchor="t">
            <a:spAutoFit/>
          </a:bodyPr>
          <a:lstStyle/>
          <a:p>
            <a:pPr algn="ctr"/>
            <a:r>
              <a:rPr sz="900" b="0">
                <a:solidFill>
                  <a:srgbClr val="606962"/>
                </a:solidFill>
                <a:latin typeface="Aptos"/>
              </a:rPr>
              <a:t>Parchment</a:t>
            </a:r>
          </a:p>
        </p:txBody>
      </p:sp>
      <p:sp>
        <p:nvSpPr>
          <p:cNvPr id="13" name="Rounded Rectangle 12"/>
          <p:cNvSpPr/>
          <p:nvPr/>
        </p:nvSpPr>
        <p:spPr>
          <a:xfrm>
            <a:off x="3657600" y="1783080"/>
            <a:ext cx="749808" cy="749808"/>
          </a:xfrm>
          <a:prstGeom prst="roundRect">
            <a:avLst>
              <a:gd name="adj" fmla="val 12000"/>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2633472"/>
            <a:ext cx="1005840" cy="274320"/>
          </a:xfrm>
          <a:prstGeom prst="rect">
            <a:avLst/>
          </a:prstGeom>
          <a:noFill/>
        </p:spPr>
        <p:txBody>
          <a:bodyPr wrap="square" lIns="36576" rIns="36576" tIns="36576" bIns="36576" anchor="t">
            <a:spAutoFit/>
          </a:bodyPr>
          <a:lstStyle/>
          <a:p>
            <a:pPr algn="ctr"/>
            <a:r>
              <a:rPr sz="900" b="0">
                <a:solidFill>
                  <a:srgbClr val="606962"/>
                </a:solidFill>
                <a:latin typeface="Aptos"/>
              </a:rPr>
              <a:t>Forest</a:t>
            </a:r>
          </a:p>
        </p:txBody>
      </p:sp>
      <p:sp>
        <p:nvSpPr>
          <p:cNvPr id="15" name="TextBox 14"/>
          <p:cNvSpPr txBox="1"/>
          <p:nvPr/>
        </p:nvSpPr>
        <p:spPr>
          <a:xfrm>
            <a:off x="777240" y="3246120"/>
            <a:ext cx="2286000" cy="274320"/>
          </a:xfrm>
          <a:prstGeom prst="rect">
            <a:avLst/>
          </a:prstGeom>
          <a:noFill/>
        </p:spPr>
        <p:txBody>
          <a:bodyPr wrap="square" lIns="36576" rIns="36576" tIns="36576" bIns="36576" anchor="t">
            <a:spAutoFit/>
          </a:bodyPr>
          <a:lstStyle/>
          <a:p>
            <a:pPr algn="l"/>
            <a:r>
              <a:rPr sz="1200" b="1">
                <a:solidFill>
                  <a:srgbClr val="B25B3E"/>
                </a:solidFill>
                <a:latin typeface="Aptos"/>
              </a:rPr>
              <a:t>Typography</a:t>
            </a:r>
          </a:p>
        </p:txBody>
      </p:sp>
      <p:sp>
        <p:nvSpPr>
          <p:cNvPr id="16" name="TextBox 15"/>
          <p:cNvSpPr txBox="1"/>
          <p:nvPr/>
        </p:nvSpPr>
        <p:spPr>
          <a:xfrm>
            <a:off x="777240" y="3611880"/>
            <a:ext cx="4572000" cy="365760"/>
          </a:xfrm>
          <a:prstGeom prst="rect">
            <a:avLst/>
          </a:prstGeom>
          <a:noFill/>
        </p:spPr>
        <p:txBody>
          <a:bodyPr wrap="square" lIns="36576" rIns="36576" tIns="36576" bIns="36576" anchor="t">
            <a:spAutoFit/>
          </a:bodyPr>
          <a:lstStyle/>
          <a:p>
            <a:pPr algn="l"/>
            <a:r>
              <a:rPr sz="1600" b="1">
                <a:solidFill>
                  <a:srgbClr val="0A3422"/>
                </a:solidFill>
                <a:latin typeface="Aptos"/>
              </a:rPr>
              <a:t>Cinzel-style headers  •  Inter-style body text</a:t>
            </a:r>
          </a:p>
        </p:txBody>
      </p:sp>
      <p:sp>
        <p:nvSpPr>
          <p:cNvPr id="17" name="TextBox 16"/>
          <p:cNvSpPr txBox="1"/>
          <p:nvPr/>
        </p:nvSpPr>
        <p:spPr>
          <a:xfrm>
            <a:off x="6446520" y="1325880"/>
            <a:ext cx="3657600" cy="274320"/>
          </a:xfrm>
          <a:prstGeom prst="rect">
            <a:avLst/>
          </a:prstGeom>
          <a:noFill/>
        </p:spPr>
        <p:txBody>
          <a:bodyPr wrap="square" lIns="36576" rIns="36576" tIns="36576" bIns="36576" anchor="t">
            <a:spAutoFit/>
          </a:bodyPr>
          <a:lstStyle/>
          <a:p>
            <a:pPr algn="l"/>
            <a:r>
              <a:rPr sz="1200" b="1">
                <a:solidFill>
                  <a:srgbClr val="B25B3E"/>
                </a:solidFill>
                <a:latin typeface="Aptos"/>
              </a:rPr>
              <a:t>DARK / LIGHT MODE</a:t>
            </a:r>
          </a:p>
        </p:txBody>
      </p:sp>
      <p:sp>
        <p:nvSpPr>
          <p:cNvPr id="18" name="Rounded Rectangle 17"/>
          <p:cNvSpPr/>
          <p:nvPr/>
        </p:nvSpPr>
        <p:spPr>
          <a:xfrm>
            <a:off x="6446520" y="1783080"/>
            <a:ext cx="2194560" cy="91440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057400"/>
            <a:ext cx="1828800" cy="320040"/>
          </a:xfrm>
          <a:prstGeom prst="rect">
            <a:avLst/>
          </a:prstGeom>
          <a:noFill/>
        </p:spPr>
        <p:txBody>
          <a:bodyPr wrap="square" lIns="36576" rIns="36576" tIns="36576" bIns="36576" anchor="t">
            <a:spAutoFit/>
          </a:bodyPr>
          <a:lstStyle/>
          <a:p>
            <a:pPr algn="ctr"/>
            <a:r>
              <a:rPr sz="1500" b="1">
                <a:solidFill>
                  <a:srgbClr val="FFFFFF"/>
                </a:solidFill>
                <a:latin typeface="Aptos"/>
              </a:rPr>
              <a:t>☾  Dark</a:t>
            </a:r>
          </a:p>
        </p:txBody>
      </p:sp>
      <p:sp>
        <p:nvSpPr>
          <p:cNvPr id="20" name="Rounded Rectangle 19"/>
          <p:cNvSpPr/>
          <p:nvPr/>
        </p:nvSpPr>
        <p:spPr>
          <a:xfrm>
            <a:off x="8915400" y="1783080"/>
            <a:ext cx="2194560" cy="9144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57400"/>
            <a:ext cx="1828800" cy="320040"/>
          </a:xfrm>
          <a:prstGeom prst="rect">
            <a:avLst/>
          </a:prstGeom>
          <a:noFill/>
        </p:spPr>
        <p:txBody>
          <a:bodyPr wrap="square" lIns="36576" rIns="36576" tIns="36576" bIns="36576" anchor="t">
            <a:spAutoFit/>
          </a:bodyPr>
          <a:lstStyle/>
          <a:p>
            <a:pPr algn="ctr"/>
            <a:r>
              <a:rPr sz="1500" b="1">
                <a:solidFill>
                  <a:srgbClr val="0A3422"/>
                </a:solidFill>
                <a:latin typeface="Aptos"/>
              </a:rPr>
              <a:t>☼  Light</a:t>
            </a:r>
          </a:p>
        </p:txBody>
      </p:sp>
      <p:sp>
        <p:nvSpPr>
          <p:cNvPr id="22" name="TextBox 21"/>
          <p:cNvSpPr txBox="1"/>
          <p:nvPr/>
        </p:nvSpPr>
        <p:spPr>
          <a:xfrm>
            <a:off x="6446520" y="3246120"/>
            <a:ext cx="3657600" cy="274320"/>
          </a:xfrm>
          <a:prstGeom prst="rect">
            <a:avLst/>
          </a:prstGeom>
          <a:noFill/>
        </p:spPr>
        <p:txBody>
          <a:bodyPr wrap="square" lIns="36576" rIns="36576" tIns="36576" bIns="36576" anchor="t">
            <a:spAutoFit/>
          </a:bodyPr>
          <a:lstStyle/>
          <a:p>
            <a:pPr algn="l"/>
            <a:r>
              <a:rPr sz="1200" b="1">
                <a:solidFill>
                  <a:srgbClr val="B25B3E"/>
                </a:solidFill>
                <a:latin typeface="Aptos"/>
              </a:rPr>
              <a:t>Responsive CSS Grid</a:t>
            </a:r>
          </a:p>
        </p:txBody>
      </p:sp>
      <p:sp>
        <p:nvSpPr>
          <p:cNvPr id="23" name="TextBox 22"/>
          <p:cNvSpPr txBox="1"/>
          <p:nvPr/>
        </p:nvSpPr>
        <p:spPr>
          <a:xfrm>
            <a:off x="6446520" y="3611880"/>
            <a:ext cx="4114800" cy="365760"/>
          </a:xfrm>
          <a:prstGeom prst="rect">
            <a:avLst/>
          </a:prstGeom>
          <a:noFill/>
        </p:spPr>
        <p:txBody>
          <a:bodyPr wrap="square" lIns="36576" rIns="36576" tIns="36576" bIns="36576" anchor="t">
            <a:spAutoFit/>
          </a:bodyPr>
          <a:lstStyle/>
          <a:p>
            <a:pPr algn="l"/>
            <a:r>
              <a:rPr sz="1600" b="1">
                <a:solidFill>
                  <a:srgbClr val="0A3422"/>
                </a:solidFill>
                <a:latin typeface="Aptos"/>
              </a:rPr>
              <a:t>Desktop → tablet → excavation trench</a:t>
            </a:r>
          </a:p>
        </p:txBody>
      </p:sp>
      <p:sp>
        <p:nvSpPr>
          <p:cNvPr id="24" name="TextBox 23"/>
          <p:cNvSpPr txBox="1"/>
          <p:nvPr/>
        </p:nvSpPr>
        <p:spPr>
          <a:xfrm>
            <a:off x="777240" y="4617720"/>
            <a:ext cx="2926080" cy="274320"/>
          </a:xfrm>
          <a:prstGeom prst="rect">
            <a:avLst/>
          </a:prstGeom>
          <a:noFill/>
        </p:spPr>
        <p:txBody>
          <a:bodyPr wrap="square" lIns="36576" rIns="36576" tIns="36576" bIns="36576" anchor="t">
            <a:spAutoFit/>
          </a:bodyPr>
          <a:lstStyle/>
          <a:p>
            <a:pPr algn="l"/>
            <a:r>
              <a:rPr sz="1200" b="1">
                <a:solidFill>
                  <a:srgbClr val="B25B3E"/>
                </a:solidFill>
                <a:latin typeface="Aptos"/>
              </a:rPr>
              <a:t>Micro-interactions</a:t>
            </a:r>
          </a:p>
        </p:txBody>
      </p:sp>
      <p:sp>
        <p:nvSpPr>
          <p:cNvPr id="25" name="TextBox 24"/>
          <p:cNvSpPr txBox="1"/>
          <p:nvPr/>
        </p:nvSpPr>
        <p:spPr>
          <a:xfrm>
            <a:off x="777240" y="4983480"/>
            <a:ext cx="10058400" cy="365760"/>
          </a:xfrm>
          <a:prstGeom prst="rect">
            <a:avLst/>
          </a:prstGeom>
          <a:noFill/>
        </p:spPr>
        <p:txBody>
          <a:bodyPr wrap="square" lIns="36576" rIns="36576" tIns="36576" bIns="36576" anchor="t">
            <a:spAutoFit/>
          </a:bodyPr>
          <a:lstStyle/>
          <a:p>
            <a:pPr algn="l"/>
            <a:r>
              <a:rPr sz="1400" b="0">
                <a:solidFill>
                  <a:srgbClr val="606962"/>
                </a:solidFill>
                <a:latin typeface="Aptos"/>
              </a:rPr>
              <a:t>Card hover lifts  •  Fade-ins  •  Color-coded status badges</a:t>
            </a:r>
          </a:p>
        </p:txBody>
      </p:sp>
      <p:sp>
        <p:nvSpPr>
          <p:cNvPr id="26" name="TextBox 25"/>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7" name="Rectangle 26"/>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How Heritage Guard Works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SYSTEM WORKFLOW</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14</a:t>
            </a:r>
          </a:p>
        </p:txBody>
      </p:sp>
      <p:sp>
        <p:nvSpPr>
          <p:cNvPr id="6" name="Oval 5"/>
          <p:cNvSpPr/>
          <p:nvPr/>
        </p:nvSpPr>
        <p:spPr>
          <a:xfrm>
            <a:off x="868680" y="1325880"/>
            <a:ext cx="566928" cy="566928"/>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25880"/>
            <a:ext cx="566928" cy="566928"/>
          </a:xfrm>
          <a:prstGeom prst="rect">
            <a:avLst/>
          </a:prstGeom>
          <a:noFill/>
        </p:spPr>
        <p:txBody>
          <a:bodyPr wrap="square" lIns="0" rIns="0" tIns="0" bIns="0" anchor="ctr">
            <a:spAutoFit/>
          </a:bodyPr>
          <a:lstStyle/>
          <a:p>
            <a:pPr algn="ctr"/>
            <a:r>
              <a:rPr sz="1200" b="1">
                <a:solidFill>
                  <a:srgbClr val="FFFFFF"/>
                </a:solidFill>
                <a:latin typeface="Aptos"/>
              </a:rPr>
              <a:t>1</a:t>
            </a:r>
          </a:p>
        </p:txBody>
      </p:sp>
      <p:sp>
        <p:nvSpPr>
          <p:cNvPr id="8" name="TextBox 7"/>
          <p:cNvSpPr txBox="1"/>
          <p:nvPr/>
        </p:nvSpPr>
        <p:spPr>
          <a:xfrm>
            <a:off x="1691640" y="1307592"/>
            <a:ext cx="2011680" cy="274320"/>
          </a:xfrm>
          <a:prstGeom prst="rect">
            <a:avLst/>
          </a:prstGeom>
          <a:noFill/>
        </p:spPr>
        <p:txBody>
          <a:bodyPr wrap="square" lIns="36576" rIns="36576" tIns="36576" bIns="36576" anchor="t">
            <a:spAutoFit/>
          </a:bodyPr>
          <a:lstStyle/>
          <a:p>
            <a:pPr algn="l"/>
            <a:r>
              <a:rPr sz="1300" b="1">
                <a:solidFill>
                  <a:srgbClr val="0A3422"/>
                </a:solidFill>
                <a:latin typeface="Aptos"/>
              </a:rPr>
              <a:t>AUTHENTICATE</a:t>
            </a:r>
          </a:p>
        </p:txBody>
      </p:sp>
      <p:sp>
        <p:nvSpPr>
          <p:cNvPr id="9" name="TextBox 8"/>
          <p:cNvSpPr txBox="1"/>
          <p:nvPr/>
        </p:nvSpPr>
        <p:spPr>
          <a:xfrm>
            <a:off x="3657600" y="1307592"/>
            <a:ext cx="6949440" cy="320040"/>
          </a:xfrm>
          <a:prstGeom prst="rect">
            <a:avLst/>
          </a:prstGeom>
          <a:noFill/>
        </p:spPr>
        <p:txBody>
          <a:bodyPr wrap="square" lIns="36576" rIns="36576" tIns="36576" bIns="36576" anchor="t">
            <a:spAutoFit/>
          </a:bodyPr>
          <a:lstStyle/>
          <a:p>
            <a:pPr algn="l"/>
            <a:r>
              <a:rPr sz="1300" b="0">
                <a:solidFill>
                  <a:srgbClr val="606962"/>
                </a:solidFill>
                <a:latin typeface="Aptos"/>
              </a:rPr>
              <a:t>Login + role assignment</a:t>
            </a:r>
          </a:p>
        </p:txBody>
      </p:sp>
      <p:sp>
        <p:nvSpPr>
          <p:cNvPr id="10" name="Rectangle 9"/>
          <p:cNvSpPr/>
          <p:nvPr/>
        </p:nvSpPr>
        <p:spPr>
          <a:xfrm>
            <a:off x="1133856" y="1892807"/>
            <a:ext cx="32004" cy="384048"/>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8680" y="2286000"/>
            <a:ext cx="566928" cy="566928"/>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286000"/>
            <a:ext cx="566928" cy="566928"/>
          </a:xfrm>
          <a:prstGeom prst="rect">
            <a:avLst/>
          </a:prstGeom>
          <a:noFill/>
        </p:spPr>
        <p:txBody>
          <a:bodyPr wrap="square" lIns="0" rIns="0" tIns="0" bIns="0" anchor="ctr">
            <a:spAutoFit/>
          </a:bodyPr>
          <a:lstStyle/>
          <a:p>
            <a:pPr algn="ctr"/>
            <a:r>
              <a:rPr sz="1200" b="1">
                <a:solidFill>
                  <a:srgbClr val="FFFFFF"/>
                </a:solidFill>
                <a:latin typeface="Aptos"/>
              </a:rPr>
              <a:t>2</a:t>
            </a:r>
          </a:p>
        </p:txBody>
      </p:sp>
      <p:sp>
        <p:nvSpPr>
          <p:cNvPr id="13" name="TextBox 12"/>
          <p:cNvSpPr txBox="1"/>
          <p:nvPr/>
        </p:nvSpPr>
        <p:spPr>
          <a:xfrm>
            <a:off x="1691640" y="2267712"/>
            <a:ext cx="2011680" cy="274320"/>
          </a:xfrm>
          <a:prstGeom prst="rect">
            <a:avLst/>
          </a:prstGeom>
          <a:noFill/>
        </p:spPr>
        <p:txBody>
          <a:bodyPr wrap="square" lIns="36576" rIns="36576" tIns="36576" bIns="36576" anchor="t">
            <a:spAutoFit/>
          </a:bodyPr>
          <a:lstStyle/>
          <a:p>
            <a:pPr algn="l"/>
            <a:r>
              <a:rPr sz="1300" b="1">
                <a:solidFill>
                  <a:srgbClr val="0A3422"/>
                </a:solidFill>
                <a:latin typeface="Aptos"/>
              </a:rPr>
              <a:t>REGISTER</a:t>
            </a:r>
          </a:p>
        </p:txBody>
      </p:sp>
      <p:sp>
        <p:nvSpPr>
          <p:cNvPr id="14" name="TextBox 13"/>
          <p:cNvSpPr txBox="1"/>
          <p:nvPr/>
        </p:nvSpPr>
        <p:spPr>
          <a:xfrm>
            <a:off x="3657600" y="2267712"/>
            <a:ext cx="6949440" cy="320040"/>
          </a:xfrm>
          <a:prstGeom prst="rect">
            <a:avLst/>
          </a:prstGeom>
          <a:noFill/>
        </p:spPr>
        <p:txBody>
          <a:bodyPr wrap="square" lIns="36576" rIns="36576" tIns="36576" bIns="36576" anchor="t">
            <a:spAutoFit/>
          </a:bodyPr>
          <a:lstStyle/>
          <a:p>
            <a:pPr algn="l"/>
            <a:r>
              <a:rPr sz="1300" b="0">
                <a:solidFill>
                  <a:srgbClr val="606962"/>
                </a:solidFill>
                <a:latin typeface="Aptos"/>
              </a:rPr>
              <a:t>Archaeologist creates artifact</a:t>
            </a:r>
          </a:p>
        </p:txBody>
      </p:sp>
      <p:sp>
        <p:nvSpPr>
          <p:cNvPr id="15" name="Rectangle 14"/>
          <p:cNvSpPr/>
          <p:nvPr/>
        </p:nvSpPr>
        <p:spPr>
          <a:xfrm>
            <a:off x="1133856" y="2852928"/>
            <a:ext cx="32004" cy="384048"/>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3246120"/>
            <a:ext cx="566928" cy="566928"/>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46120"/>
            <a:ext cx="566928" cy="566928"/>
          </a:xfrm>
          <a:prstGeom prst="rect">
            <a:avLst/>
          </a:prstGeom>
          <a:noFill/>
        </p:spPr>
        <p:txBody>
          <a:bodyPr wrap="square" lIns="0" rIns="0" tIns="0" bIns="0" anchor="ctr">
            <a:spAutoFit/>
          </a:bodyPr>
          <a:lstStyle/>
          <a:p>
            <a:pPr algn="ctr"/>
            <a:r>
              <a:rPr sz="1200" b="1">
                <a:solidFill>
                  <a:srgbClr val="FFFFFF"/>
                </a:solidFill>
                <a:latin typeface="Aptos"/>
              </a:rPr>
              <a:t>3</a:t>
            </a:r>
          </a:p>
        </p:txBody>
      </p:sp>
      <p:sp>
        <p:nvSpPr>
          <p:cNvPr id="18" name="TextBox 17"/>
          <p:cNvSpPr txBox="1"/>
          <p:nvPr/>
        </p:nvSpPr>
        <p:spPr>
          <a:xfrm>
            <a:off x="1691640" y="3227832"/>
            <a:ext cx="2011680" cy="274320"/>
          </a:xfrm>
          <a:prstGeom prst="rect">
            <a:avLst/>
          </a:prstGeom>
          <a:noFill/>
        </p:spPr>
        <p:txBody>
          <a:bodyPr wrap="square" lIns="36576" rIns="36576" tIns="36576" bIns="36576" anchor="t">
            <a:spAutoFit/>
          </a:bodyPr>
          <a:lstStyle/>
          <a:p>
            <a:pPr algn="l"/>
            <a:r>
              <a:rPr sz="1300" b="1">
                <a:solidFill>
                  <a:srgbClr val="0A3422"/>
                </a:solidFill>
                <a:latin typeface="Aptos"/>
              </a:rPr>
              <a:t>TRACK</a:t>
            </a:r>
          </a:p>
        </p:txBody>
      </p:sp>
      <p:sp>
        <p:nvSpPr>
          <p:cNvPr id="19" name="TextBox 18"/>
          <p:cNvSpPr txBox="1"/>
          <p:nvPr/>
        </p:nvSpPr>
        <p:spPr>
          <a:xfrm>
            <a:off x="3657600" y="3227832"/>
            <a:ext cx="6949440" cy="320040"/>
          </a:xfrm>
          <a:prstGeom prst="rect">
            <a:avLst/>
          </a:prstGeom>
          <a:noFill/>
        </p:spPr>
        <p:txBody>
          <a:bodyPr wrap="square" lIns="36576" rIns="36576" tIns="36576" bIns="36576" anchor="t">
            <a:spAutoFit/>
          </a:bodyPr>
          <a:lstStyle/>
          <a:p>
            <a:pPr algn="l"/>
            <a:r>
              <a:rPr sz="1300" b="0">
                <a:solidFill>
                  <a:srgbClr val="606962"/>
                </a:solidFill>
                <a:latin typeface="Aptos"/>
              </a:rPr>
              <a:t>Movement is timestamped</a:t>
            </a:r>
          </a:p>
        </p:txBody>
      </p:sp>
      <p:sp>
        <p:nvSpPr>
          <p:cNvPr id="20" name="Rectangle 19"/>
          <p:cNvSpPr/>
          <p:nvPr/>
        </p:nvSpPr>
        <p:spPr>
          <a:xfrm>
            <a:off x="1133856" y="3813048"/>
            <a:ext cx="32004" cy="384048"/>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8680" y="4206240"/>
            <a:ext cx="566928" cy="566928"/>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206240"/>
            <a:ext cx="566928" cy="566928"/>
          </a:xfrm>
          <a:prstGeom prst="rect">
            <a:avLst/>
          </a:prstGeom>
          <a:noFill/>
        </p:spPr>
        <p:txBody>
          <a:bodyPr wrap="square" lIns="0" rIns="0" tIns="0" bIns="0" anchor="ctr">
            <a:spAutoFit/>
          </a:bodyPr>
          <a:lstStyle/>
          <a:p>
            <a:pPr algn="ctr"/>
            <a:r>
              <a:rPr sz="1200" b="1">
                <a:solidFill>
                  <a:srgbClr val="FFFFFF"/>
                </a:solidFill>
                <a:latin typeface="Aptos"/>
              </a:rPr>
              <a:t>4</a:t>
            </a:r>
          </a:p>
        </p:txBody>
      </p:sp>
      <p:sp>
        <p:nvSpPr>
          <p:cNvPr id="23" name="TextBox 22"/>
          <p:cNvSpPr txBox="1"/>
          <p:nvPr/>
        </p:nvSpPr>
        <p:spPr>
          <a:xfrm>
            <a:off x="1691640" y="4187952"/>
            <a:ext cx="2011680" cy="274320"/>
          </a:xfrm>
          <a:prstGeom prst="rect">
            <a:avLst/>
          </a:prstGeom>
          <a:noFill/>
        </p:spPr>
        <p:txBody>
          <a:bodyPr wrap="square" lIns="36576" rIns="36576" tIns="36576" bIns="36576" anchor="t">
            <a:spAutoFit/>
          </a:bodyPr>
          <a:lstStyle/>
          <a:p>
            <a:pPr algn="l"/>
            <a:r>
              <a:rPr sz="1300" b="1">
                <a:solidFill>
                  <a:srgbClr val="0A3422"/>
                </a:solidFill>
                <a:latin typeface="Aptos"/>
              </a:rPr>
              <a:t>UPDATE</a:t>
            </a:r>
          </a:p>
        </p:txBody>
      </p:sp>
      <p:sp>
        <p:nvSpPr>
          <p:cNvPr id="24" name="TextBox 23"/>
          <p:cNvSpPr txBox="1"/>
          <p:nvPr/>
        </p:nvSpPr>
        <p:spPr>
          <a:xfrm>
            <a:off x="3657600" y="4187952"/>
            <a:ext cx="6949440" cy="320040"/>
          </a:xfrm>
          <a:prstGeom prst="rect">
            <a:avLst/>
          </a:prstGeom>
          <a:noFill/>
        </p:spPr>
        <p:txBody>
          <a:bodyPr wrap="square" lIns="36576" rIns="36576" tIns="36576" bIns="36576" anchor="t">
            <a:spAutoFit/>
          </a:bodyPr>
          <a:lstStyle/>
          <a:p>
            <a:pPr algn="l"/>
            <a:r>
              <a:rPr sz="1300" b="0">
                <a:solidFill>
                  <a:srgbClr val="606962"/>
                </a:solidFill>
                <a:latin typeface="Aptos"/>
              </a:rPr>
              <a:t>Condition + status recorded</a:t>
            </a:r>
          </a:p>
        </p:txBody>
      </p:sp>
      <p:sp>
        <p:nvSpPr>
          <p:cNvPr id="25" name="Rectangle 24"/>
          <p:cNvSpPr/>
          <p:nvPr/>
        </p:nvSpPr>
        <p:spPr>
          <a:xfrm>
            <a:off x="1133856" y="4773168"/>
            <a:ext cx="32004" cy="384048"/>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68680" y="5166360"/>
            <a:ext cx="566928" cy="566928"/>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166360"/>
            <a:ext cx="566928" cy="566928"/>
          </a:xfrm>
          <a:prstGeom prst="rect">
            <a:avLst/>
          </a:prstGeom>
          <a:noFill/>
        </p:spPr>
        <p:txBody>
          <a:bodyPr wrap="square" lIns="0" rIns="0" tIns="0" bIns="0" anchor="ctr">
            <a:spAutoFit/>
          </a:bodyPr>
          <a:lstStyle/>
          <a:p>
            <a:pPr algn="ctr"/>
            <a:r>
              <a:rPr sz="1200" b="1">
                <a:solidFill>
                  <a:srgbClr val="FFFFFF"/>
                </a:solidFill>
                <a:latin typeface="Aptos"/>
              </a:rPr>
              <a:t>5</a:t>
            </a:r>
          </a:p>
        </p:txBody>
      </p:sp>
      <p:sp>
        <p:nvSpPr>
          <p:cNvPr id="28" name="TextBox 27"/>
          <p:cNvSpPr txBox="1"/>
          <p:nvPr/>
        </p:nvSpPr>
        <p:spPr>
          <a:xfrm>
            <a:off x="1691640" y="5148072"/>
            <a:ext cx="2011680" cy="274320"/>
          </a:xfrm>
          <a:prstGeom prst="rect">
            <a:avLst/>
          </a:prstGeom>
          <a:noFill/>
        </p:spPr>
        <p:txBody>
          <a:bodyPr wrap="square" lIns="36576" rIns="36576" tIns="36576" bIns="36576" anchor="t">
            <a:spAutoFit/>
          </a:bodyPr>
          <a:lstStyle/>
          <a:p>
            <a:pPr algn="l"/>
            <a:r>
              <a:rPr sz="1300" b="1">
                <a:solidFill>
                  <a:srgbClr val="0A3422"/>
                </a:solidFill>
                <a:latin typeface="Aptos"/>
              </a:rPr>
              <a:t>REPORT</a:t>
            </a:r>
          </a:p>
        </p:txBody>
      </p:sp>
      <p:sp>
        <p:nvSpPr>
          <p:cNvPr id="29" name="TextBox 28"/>
          <p:cNvSpPr txBox="1"/>
          <p:nvPr/>
        </p:nvSpPr>
        <p:spPr>
          <a:xfrm>
            <a:off x="3657600" y="5148072"/>
            <a:ext cx="6949440" cy="320040"/>
          </a:xfrm>
          <a:prstGeom prst="rect">
            <a:avLst/>
          </a:prstGeom>
          <a:noFill/>
        </p:spPr>
        <p:txBody>
          <a:bodyPr wrap="square" lIns="36576" rIns="36576" tIns="36576" bIns="36576" anchor="t">
            <a:spAutoFit/>
          </a:bodyPr>
          <a:lstStyle/>
          <a:p>
            <a:pPr algn="l"/>
            <a:r>
              <a:rPr sz="1300" b="0">
                <a:solidFill>
                  <a:srgbClr val="606962"/>
                </a:solidFill>
                <a:latin typeface="Aptos"/>
              </a:rPr>
              <a:t>Managers export evidence</a:t>
            </a:r>
          </a:p>
        </p:txBody>
      </p:sp>
      <p:sp>
        <p:nvSpPr>
          <p:cNvPr id="30" name="Rounded Rectangle 29"/>
          <p:cNvSpPr/>
          <p:nvPr/>
        </p:nvSpPr>
        <p:spPr>
          <a:xfrm>
            <a:off x="1691640" y="5715000"/>
            <a:ext cx="8961120" cy="457200"/>
          </a:xfrm>
          <a:prstGeom prst="roundRect">
            <a:avLst>
              <a:gd name="adj" fmla="val 12000"/>
            </a:avLst>
          </a:prstGeom>
          <a:solidFill>
            <a:srgbClr val="FCF6E1"/>
          </a:solidFill>
          <a:ln>
            <a:solidFill>
              <a:srgbClr val="FCF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74519" y="5824728"/>
            <a:ext cx="8595360" cy="228600"/>
          </a:xfrm>
          <a:prstGeom prst="rect">
            <a:avLst/>
          </a:prstGeom>
          <a:noFill/>
        </p:spPr>
        <p:txBody>
          <a:bodyPr wrap="square" lIns="36576" rIns="36576" tIns="36576" bIns="36576" anchor="t">
            <a:spAutoFit/>
          </a:bodyPr>
          <a:lstStyle/>
          <a:p>
            <a:pPr algn="ctr"/>
            <a:r>
              <a:rPr sz="1100" b="1">
                <a:solidFill>
                  <a:srgbClr val="B25B3E"/>
                </a:solidFill>
                <a:latin typeface="Aptos"/>
              </a:rPr>
              <a:t>Permissions are granted dynamically through Role-Based Access Control.</a:t>
            </a:r>
          </a:p>
        </p:txBody>
      </p:sp>
      <p:sp>
        <p:nvSpPr>
          <p:cNvPr id="32" name="TextBox 31"/>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33" name="Rectangle 32"/>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Who We Serve</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MAIN BENEFICIARIES</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15</a:t>
            </a:r>
          </a:p>
        </p:txBody>
      </p:sp>
      <p:sp>
        <p:nvSpPr>
          <p:cNvPr id="6" name="TextBox 5"/>
          <p:cNvSpPr txBox="1"/>
          <p:nvPr/>
        </p:nvSpPr>
        <p:spPr>
          <a:xfrm>
            <a:off x="731520" y="1371600"/>
            <a:ext cx="10515600" cy="502920"/>
          </a:xfrm>
          <a:prstGeom prst="rect">
            <a:avLst/>
          </a:prstGeom>
          <a:noFill/>
        </p:spPr>
        <p:txBody>
          <a:bodyPr wrap="square" lIns="36576" rIns="36576" tIns="36576" bIns="36576" anchor="t">
            <a:spAutoFit/>
          </a:bodyPr>
          <a:lstStyle/>
          <a:p>
            <a:pPr algn="ctr"/>
            <a:r>
              <a:rPr sz="2800" b="1">
                <a:solidFill>
                  <a:srgbClr val="0A3422"/>
                </a:solidFill>
                <a:latin typeface="Aptos"/>
              </a:rPr>
              <a:t>The ultimate beneficiary is the future.</a:t>
            </a:r>
          </a:p>
        </p:txBody>
      </p:sp>
      <p:sp>
        <p:nvSpPr>
          <p:cNvPr id="7" name="Rounded Rectangle 6"/>
          <p:cNvSpPr/>
          <p:nvPr/>
        </p:nvSpPr>
        <p:spPr>
          <a:xfrm>
            <a:off x="822960" y="2240280"/>
            <a:ext cx="3383280" cy="20574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240280"/>
            <a:ext cx="64008" cy="205740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49631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496312"/>
            <a:ext cx="438912" cy="438912"/>
          </a:xfrm>
          <a:prstGeom prst="rect">
            <a:avLst/>
          </a:prstGeom>
          <a:noFill/>
        </p:spPr>
        <p:txBody>
          <a:bodyPr wrap="square" lIns="0" rIns="0" tIns="0" bIns="0" anchor="ctr">
            <a:spAutoFit/>
          </a:bodyPr>
          <a:lstStyle/>
          <a:p>
            <a:pPr algn="ctr"/>
            <a:r>
              <a:rPr sz="1100" b="1">
                <a:solidFill>
                  <a:srgbClr val="FFFFFF"/>
                </a:solidFill>
                <a:latin typeface="Aptos"/>
              </a:rPr>
              <a:t>01</a:t>
            </a:r>
          </a:p>
        </p:txBody>
      </p:sp>
      <p:sp>
        <p:nvSpPr>
          <p:cNvPr id="11" name="TextBox 10"/>
          <p:cNvSpPr txBox="1"/>
          <p:nvPr/>
        </p:nvSpPr>
        <p:spPr>
          <a:xfrm>
            <a:off x="1645920" y="245973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FUTURE GENERATIONS</a:t>
            </a:r>
          </a:p>
        </p:txBody>
      </p:sp>
      <p:sp>
        <p:nvSpPr>
          <p:cNvPr id="12" name="TextBox 11"/>
          <p:cNvSpPr txBox="1"/>
          <p:nvPr/>
        </p:nvSpPr>
        <p:spPr>
          <a:xfrm>
            <a:off x="1645920" y="2898648"/>
            <a:ext cx="2286000" cy="1234440"/>
          </a:xfrm>
          <a:prstGeom prst="rect">
            <a:avLst/>
          </a:prstGeom>
          <a:noFill/>
        </p:spPr>
        <p:txBody>
          <a:bodyPr wrap="square" lIns="36576" rIns="36576" tIns="36576" bIns="36576" anchor="t">
            <a:spAutoFit/>
          </a:bodyPr>
          <a:lstStyle/>
          <a:p>
            <a:pPr algn="l"/>
            <a:r>
              <a:rPr sz="1150" b="0">
                <a:solidFill>
                  <a:srgbClr val="606962"/>
                </a:solidFill>
                <a:latin typeface="Aptos"/>
              </a:rPr>
              <a:t>Heritage remains intact for tomorrow.</a:t>
            </a:r>
          </a:p>
        </p:txBody>
      </p:sp>
      <p:sp>
        <p:nvSpPr>
          <p:cNvPr id="13" name="Rounded Rectangle 12"/>
          <p:cNvSpPr/>
          <p:nvPr/>
        </p:nvSpPr>
        <p:spPr>
          <a:xfrm>
            <a:off x="4617720" y="2240280"/>
            <a:ext cx="3383280" cy="20574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17720" y="2240280"/>
            <a:ext cx="64008" cy="205740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46320" y="2496312"/>
            <a:ext cx="438912" cy="438912"/>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2496312"/>
            <a:ext cx="438912" cy="438912"/>
          </a:xfrm>
          <a:prstGeom prst="rect">
            <a:avLst/>
          </a:prstGeom>
          <a:noFill/>
        </p:spPr>
        <p:txBody>
          <a:bodyPr wrap="square" lIns="0" rIns="0" tIns="0" bIns="0" anchor="ctr">
            <a:spAutoFit/>
          </a:bodyPr>
          <a:lstStyle/>
          <a:p>
            <a:pPr algn="ctr"/>
            <a:r>
              <a:rPr sz="1100" b="1">
                <a:solidFill>
                  <a:srgbClr val="FFFFFF"/>
                </a:solidFill>
                <a:latin typeface="Aptos"/>
              </a:rPr>
              <a:t>02</a:t>
            </a:r>
          </a:p>
        </p:txBody>
      </p:sp>
      <p:sp>
        <p:nvSpPr>
          <p:cNvPr id="17" name="TextBox 16"/>
          <p:cNvSpPr txBox="1"/>
          <p:nvPr/>
        </p:nvSpPr>
        <p:spPr>
          <a:xfrm>
            <a:off x="5440680" y="245973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RESEARCHERS</a:t>
            </a:r>
          </a:p>
        </p:txBody>
      </p:sp>
      <p:sp>
        <p:nvSpPr>
          <p:cNvPr id="18" name="TextBox 17"/>
          <p:cNvSpPr txBox="1"/>
          <p:nvPr/>
        </p:nvSpPr>
        <p:spPr>
          <a:xfrm>
            <a:off x="5440680" y="2898648"/>
            <a:ext cx="2286000" cy="1234440"/>
          </a:xfrm>
          <a:prstGeom prst="rect">
            <a:avLst/>
          </a:prstGeom>
          <a:noFill/>
        </p:spPr>
        <p:txBody>
          <a:bodyPr wrap="square" lIns="36576" rIns="36576" tIns="36576" bIns="36576" anchor="t">
            <a:spAutoFit/>
          </a:bodyPr>
          <a:lstStyle/>
          <a:p>
            <a:pPr algn="l"/>
            <a:r>
              <a:rPr sz="1150" b="0">
                <a:solidFill>
                  <a:srgbClr val="606962"/>
                </a:solidFill>
                <a:latin typeface="Aptos"/>
              </a:rPr>
              <a:t>Reliable records support academic study.</a:t>
            </a:r>
          </a:p>
        </p:txBody>
      </p:sp>
      <p:sp>
        <p:nvSpPr>
          <p:cNvPr id="19" name="Rounded Rectangle 18"/>
          <p:cNvSpPr/>
          <p:nvPr/>
        </p:nvSpPr>
        <p:spPr>
          <a:xfrm>
            <a:off x="8412480" y="2240280"/>
            <a:ext cx="3383280" cy="205740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0" y="2240280"/>
            <a:ext cx="64008" cy="2057400"/>
          </a:xfrm>
          <a:prstGeom prst="rect">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41080" y="2496312"/>
            <a:ext cx="438912" cy="438912"/>
          </a:xfrm>
          <a:prstGeom prst="ellipse">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2496312"/>
            <a:ext cx="438912" cy="438912"/>
          </a:xfrm>
          <a:prstGeom prst="rect">
            <a:avLst/>
          </a:prstGeom>
          <a:noFill/>
        </p:spPr>
        <p:txBody>
          <a:bodyPr wrap="square" lIns="0" rIns="0" tIns="0" bIns="0" anchor="ctr">
            <a:spAutoFit/>
          </a:bodyPr>
          <a:lstStyle/>
          <a:p>
            <a:pPr algn="ctr"/>
            <a:r>
              <a:rPr sz="1100" b="1">
                <a:solidFill>
                  <a:srgbClr val="FFFFFF"/>
                </a:solidFill>
                <a:latin typeface="Aptos"/>
              </a:rPr>
              <a:t>03</a:t>
            </a:r>
          </a:p>
        </p:txBody>
      </p:sp>
      <p:sp>
        <p:nvSpPr>
          <p:cNvPr id="23" name="TextBox 22"/>
          <p:cNvSpPr txBox="1"/>
          <p:nvPr/>
        </p:nvSpPr>
        <p:spPr>
          <a:xfrm>
            <a:off x="9235440" y="2459736"/>
            <a:ext cx="2331720" cy="320040"/>
          </a:xfrm>
          <a:prstGeom prst="rect">
            <a:avLst/>
          </a:prstGeom>
          <a:noFill/>
        </p:spPr>
        <p:txBody>
          <a:bodyPr wrap="square" lIns="36576" rIns="36576" tIns="36576" bIns="36576" anchor="t">
            <a:spAutoFit/>
          </a:bodyPr>
          <a:lstStyle/>
          <a:p>
            <a:pPr algn="l"/>
            <a:r>
              <a:rPr sz="1500" b="1">
                <a:solidFill>
                  <a:srgbClr val="0A3422"/>
                </a:solidFill>
                <a:latin typeface="Aptos"/>
              </a:rPr>
              <a:t>GLOBAL PUBLIC</a:t>
            </a:r>
          </a:p>
        </p:txBody>
      </p:sp>
      <p:sp>
        <p:nvSpPr>
          <p:cNvPr id="24" name="TextBox 23"/>
          <p:cNvSpPr txBox="1"/>
          <p:nvPr/>
        </p:nvSpPr>
        <p:spPr>
          <a:xfrm>
            <a:off x="9235440" y="2898648"/>
            <a:ext cx="2286000" cy="1234440"/>
          </a:xfrm>
          <a:prstGeom prst="rect">
            <a:avLst/>
          </a:prstGeom>
          <a:noFill/>
        </p:spPr>
        <p:txBody>
          <a:bodyPr wrap="square" lIns="36576" rIns="36576" tIns="36576" bIns="36576" anchor="t">
            <a:spAutoFit/>
          </a:bodyPr>
          <a:lstStyle/>
          <a:p>
            <a:pPr algn="l"/>
            <a:r>
              <a:rPr sz="1150" b="0">
                <a:solidFill>
                  <a:srgbClr val="606962"/>
                </a:solidFill>
                <a:latin typeface="Aptos"/>
              </a:rPr>
              <a:t>Artifacts remain available for learning and exhibition.</a:t>
            </a:r>
          </a:p>
        </p:txBody>
      </p:sp>
      <p:sp>
        <p:nvSpPr>
          <p:cNvPr id="25" name="TextBox 24"/>
          <p:cNvSpPr txBox="1"/>
          <p:nvPr/>
        </p:nvSpPr>
        <p:spPr>
          <a:xfrm>
            <a:off x="1051560" y="5074920"/>
            <a:ext cx="10058400" cy="594360"/>
          </a:xfrm>
          <a:prstGeom prst="rect">
            <a:avLst/>
          </a:prstGeom>
          <a:noFill/>
        </p:spPr>
        <p:txBody>
          <a:bodyPr wrap="square" lIns="36576" rIns="36576" tIns="36576" bIns="36576" anchor="t">
            <a:spAutoFit/>
          </a:bodyPr>
          <a:lstStyle/>
          <a:p>
            <a:pPr algn="ctr"/>
            <a:r>
              <a:rPr sz="1800" b="0">
                <a:solidFill>
                  <a:srgbClr val="232B26"/>
                </a:solidFill>
                <a:latin typeface="Aptos"/>
              </a:rPr>
              <a:t>We are serving the artifacts themselves—giving them a digital shield from discovery to preservation.</a:t>
            </a:r>
          </a:p>
        </p:txBody>
      </p:sp>
      <p:sp>
        <p:nvSpPr>
          <p:cNvPr id="26" name="TextBox 25"/>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7" name="Rectangle 26"/>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User Target – Role-Based Access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PLATFORM USERS</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16</a:t>
            </a:r>
          </a:p>
        </p:txBody>
      </p:sp>
      <p:sp>
        <p:nvSpPr>
          <p:cNvPr id="6" name="Rounded Rectangle 5"/>
          <p:cNvSpPr/>
          <p:nvPr/>
        </p:nvSpPr>
        <p:spPr>
          <a:xfrm>
            <a:off x="685800" y="1417320"/>
            <a:ext cx="5166360" cy="16916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691640"/>
          </a:xfrm>
          <a:prstGeom prst="rect">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673352"/>
            <a:ext cx="438912" cy="438912"/>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01</a:t>
            </a:r>
          </a:p>
        </p:txBody>
      </p:sp>
      <p:sp>
        <p:nvSpPr>
          <p:cNvPr id="10" name="TextBox 9"/>
          <p:cNvSpPr txBox="1"/>
          <p:nvPr/>
        </p:nvSpPr>
        <p:spPr>
          <a:xfrm>
            <a:off x="1508760" y="1636776"/>
            <a:ext cx="4114800" cy="320040"/>
          </a:xfrm>
          <a:prstGeom prst="rect">
            <a:avLst/>
          </a:prstGeom>
          <a:noFill/>
        </p:spPr>
        <p:txBody>
          <a:bodyPr wrap="square" lIns="36576" rIns="36576" tIns="36576" bIns="36576" anchor="t">
            <a:spAutoFit/>
          </a:bodyPr>
          <a:lstStyle/>
          <a:p>
            <a:pPr algn="l"/>
            <a:r>
              <a:rPr sz="1500" b="1">
                <a:solidFill>
                  <a:srgbClr val="0A3422"/>
                </a:solidFill>
                <a:latin typeface="Aptos"/>
              </a:rPr>
              <a:t>ARCHAEOLOGISTS</a:t>
            </a:r>
          </a:p>
        </p:txBody>
      </p:sp>
      <p:sp>
        <p:nvSpPr>
          <p:cNvPr id="11" name="TextBox 10"/>
          <p:cNvSpPr txBox="1"/>
          <p:nvPr/>
        </p:nvSpPr>
        <p:spPr>
          <a:xfrm>
            <a:off x="1508760" y="2075688"/>
            <a:ext cx="4069080" cy="868680"/>
          </a:xfrm>
          <a:prstGeom prst="rect">
            <a:avLst/>
          </a:prstGeom>
          <a:noFill/>
        </p:spPr>
        <p:txBody>
          <a:bodyPr wrap="square" lIns="36576" rIns="36576" tIns="36576" bIns="36576" anchor="t">
            <a:spAutoFit/>
          </a:bodyPr>
          <a:lstStyle/>
          <a:p>
            <a:pPr algn="l"/>
            <a:r>
              <a:rPr sz="1150" b="0">
                <a:solidFill>
                  <a:srgbClr val="606962"/>
                </a:solidFill>
                <a:latin typeface="Aptos"/>
              </a:rPr>
              <a:t>Register finds • Initial observations • Assign codes</a:t>
            </a:r>
          </a:p>
        </p:txBody>
      </p:sp>
      <p:sp>
        <p:nvSpPr>
          <p:cNvPr id="12" name="Rounded Rectangle 11"/>
          <p:cNvSpPr/>
          <p:nvPr/>
        </p:nvSpPr>
        <p:spPr>
          <a:xfrm>
            <a:off x="6263640" y="1417320"/>
            <a:ext cx="5166360" cy="16916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64008" cy="1691640"/>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92240" y="1673352"/>
            <a:ext cx="438912" cy="438912"/>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673352"/>
            <a:ext cx="438912" cy="438912"/>
          </a:xfrm>
          <a:prstGeom prst="rect">
            <a:avLst/>
          </a:prstGeom>
          <a:noFill/>
        </p:spPr>
        <p:txBody>
          <a:bodyPr wrap="square" lIns="0" rIns="0" tIns="0" bIns="0" anchor="ctr">
            <a:spAutoFit/>
          </a:bodyPr>
          <a:lstStyle/>
          <a:p>
            <a:pPr algn="ctr"/>
            <a:r>
              <a:rPr sz="1100" b="1">
                <a:solidFill>
                  <a:srgbClr val="FFFFFF"/>
                </a:solidFill>
                <a:latin typeface="Aptos"/>
              </a:rPr>
              <a:t>02</a:t>
            </a:r>
          </a:p>
        </p:txBody>
      </p:sp>
      <p:sp>
        <p:nvSpPr>
          <p:cNvPr id="16" name="TextBox 15"/>
          <p:cNvSpPr txBox="1"/>
          <p:nvPr/>
        </p:nvSpPr>
        <p:spPr>
          <a:xfrm>
            <a:off x="7086600" y="1636776"/>
            <a:ext cx="4114800" cy="320040"/>
          </a:xfrm>
          <a:prstGeom prst="rect">
            <a:avLst/>
          </a:prstGeom>
          <a:noFill/>
        </p:spPr>
        <p:txBody>
          <a:bodyPr wrap="square" lIns="36576" rIns="36576" tIns="36576" bIns="36576" anchor="t">
            <a:spAutoFit/>
          </a:bodyPr>
          <a:lstStyle/>
          <a:p>
            <a:pPr algn="l"/>
            <a:r>
              <a:rPr sz="1500" b="1">
                <a:solidFill>
                  <a:srgbClr val="0A3422"/>
                </a:solidFill>
                <a:latin typeface="Aptos"/>
              </a:rPr>
              <a:t>MUSEUM / CONSERVATION</a:t>
            </a:r>
          </a:p>
        </p:txBody>
      </p:sp>
      <p:sp>
        <p:nvSpPr>
          <p:cNvPr id="17" name="TextBox 16"/>
          <p:cNvSpPr txBox="1"/>
          <p:nvPr/>
        </p:nvSpPr>
        <p:spPr>
          <a:xfrm>
            <a:off x="7086600" y="2075688"/>
            <a:ext cx="4069080" cy="868680"/>
          </a:xfrm>
          <a:prstGeom prst="rect">
            <a:avLst/>
          </a:prstGeom>
          <a:noFill/>
        </p:spPr>
        <p:txBody>
          <a:bodyPr wrap="square" lIns="36576" rIns="36576" tIns="36576" bIns="36576" anchor="t">
            <a:spAutoFit/>
          </a:bodyPr>
          <a:lstStyle/>
          <a:p>
            <a:pPr algn="l"/>
            <a:r>
              <a:rPr sz="1150" b="0">
                <a:solidFill>
                  <a:srgbClr val="606962"/>
                </a:solidFill>
                <a:latin typeface="Aptos"/>
              </a:rPr>
              <a:t>Update locations • Damage • Checklists</a:t>
            </a:r>
          </a:p>
        </p:txBody>
      </p:sp>
      <p:sp>
        <p:nvSpPr>
          <p:cNvPr id="18" name="Rounded Rectangle 17"/>
          <p:cNvSpPr/>
          <p:nvPr/>
        </p:nvSpPr>
        <p:spPr>
          <a:xfrm>
            <a:off x="685800" y="3474720"/>
            <a:ext cx="5166360" cy="16916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474720"/>
            <a:ext cx="64008" cy="1691640"/>
          </a:xfrm>
          <a:prstGeom prst="rect">
            <a:avLst/>
          </a:prstGeom>
          <a:solidFill>
            <a:srgbClr val="B1342D"/>
          </a:solidFill>
          <a:ln>
            <a:solidFill>
              <a:srgbClr val="B13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30752"/>
            <a:ext cx="438912" cy="438912"/>
          </a:xfrm>
          <a:prstGeom prst="ellipse">
            <a:avLst/>
          </a:prstGeom>
          <a:solidFill>
            <a:srgbClr val="B1342D"/>
          </a:solidFill>
          <a:ln>
            <a:solidFill>
              <a:srgbClr val="B13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30752"/>
            <a:ext cx="438912" cy="438912"/>
          </a:xfrm>
          <a:prstGeom prst="rect">
            <a:avLst/>
          </a:prstGeom>
          <a:noFill/>
        </p:spPr>
        <p:txBody>
          <a:bodyPr wrap="square" lIns="0" rIns="0" tIns="0" bIns="0" anchor="ctr">
            <a:spAutoFit/>
          </a:bodyPr>
          <a:lstStyle/>
          <a:p>
            <a:pPr algn="ctr"/>
            <a:r>
              <a:rPr sz="1100" b="1">
                <a:solidFill>
                  <a:srgbClr val="FFFFFF"/>
                </a:solidFill>
                <a:latin typeface="Aptos"/>
              </a:rPr>
              <a:t>03</a:t>
            </a:r>
          </a:p>
        </p:txBody>
      </p:sp>
      <p:sp>
        <p:nvSpPr>
          <p:cNvPr id="22" name="TextBox 21"/>
          <p:cNvSpPr txBox="1"/>
          <p:nvPr/>
        </p:nvSpPr>
        <p:spPr>
          <a:xfrm>
            <a:off x="1508760" y="3694176"/>
            <a:ext cx="4114800" cy="320040"/>
          </a:xfrm>
          <a:prstGeom prst="rect">
            <a:avLst/>
          </a:prstGeom>
          <a:noFill/>
        </p:spPr>
        <p:txBody>
          <a:bodyPr wrap="square" lIns="36576" rIns="36576" tIns="36576" bIns="36576" anchor="t">
            <a:spAutoFit/>
          </a:bodyPr>
          <a:lstStyle/>
          <a:p>
            <a:pPr algn="l"/>
            <a:r>
              <a:rPr sz="1500" b="1">
                <a:solidFill>
                  <a:srgbClr val="0A3422"/>
                </a:solidFill>
                <a:latin typeface="Aptos"/>
              </a:rPr>
              <a:t>SECURITY STAFF</a:t>
            </a:r>
          </a:p>
        </p:txBody>
      </p:sp>
      <p:sp>
        <p:nvSpPr>
          <p:cNvPr id="23" name="TextBox 22"/>
          <p:cNvSpPr txBox="1"/>
          <p:nvPr/>
        </p:nvSpPr>
        <p:spPr>
          <a:xfrm>
            <a:off x="1508760" y="4133087"/>
            <a:ext cx="4069080" cy="868680"/>
          </a:xfrm>
          <a:prstGeom prst="rect">
            <a:avLst/>
          </a:prstGeom>
          <a:noFill/>
        </p:spPr>
        <p:txBody>
          <a:bodyPr wrap="square" lIns="36576" rIns="36576" tIns="36576" bIns="36576" anchor="t">
            <a:spAutoFit/>
          </a:bodyPr>
          <a:lstStyle/>
          <a:p>
            <a:pPr algn="l"/>
            <a:r>
              <a:rPr sz="1150" b="0">
                <a:solidFill>
                  <a:srgbClr val="606962"/>
                </a:solidFill>
                <a:latin typeface="Aptos"/>
              </a:rPr>
              <a:t>Alerts • Stolen flags • Watchlist</a:t>
            </a:r>
          </a:p>
        </p:txBody>
      </p:sp>
      <p:sp>
        <p:nvSpPr>
          <p:cNvPr id="24" name="Rounded Rectangle 23"/>
          <p:cNvSpPr/>
          <p:nvPr/>
        </p:nvSpPr>
        <p:spPr>
          <a:xfrm>
            <a:off x="6263640" y="3474720"/>
            <a:ext cx="5166360" cy="169164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3474720"/>
            <a:ext cx="64008" cy="1691640"/>
          </a:xfrm>
          <a:prstGeom prst="rect">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92240" y="3730752"/>
            <a:ext cx="438912" cy="438912"/>
          </a:xfrm>
          <a:prstGeom prst="ellipse">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3730752"/>
            <a:ext cx="438912" cy="438912"/>
          </a:xfrm>
          <a:prstGeom prst="rect">
            <a:avLst/>
          </a:prstGeom>
          <a:noFill/>
        </p:spPr>
        <p:txBody>
          <a:bodyPr wrap="square" lIns="0" rIns="0" tIns="0" bIns="0" anchor="ctr">
            <a:spAutoFit/>
          </a:bodyPr>
          <a:lstStyle/>
          <a:p>
            <a:pPr algn="ctr"/>
            <a:r>
              <a:rPr sz="1100" b="1">
                <a:solidFill>
                  <a:srgbClr val="FFFFFF"/>
                </a:solidFill>
                <a:latin typeface="Aptos"/>
              </a:rPr>
              <a:t>04</a:t>
            </a:r>
          </a:p>
        </p:txBody>
      </p:sp>
      <p:sp>
        <p:nvSpPr>
          <p:cNvPr id="28" name="TextBox 27"/>
          <p:cNvSpPr txBox="1"/>
          <p:nvPr/>
        </p:nvSpPr>
        <p:spPr>
          <a:xfrm>
            <a:off x="7086600" y="3694176"/>
            <a:ext cx="4114800" cy="320040"/>
          </a:xfrm>
          <a:prstGeom prst="rect">
            <a:avLst/>
          </a:prstGeom>
          <a:noFill/>
        </p:spPr>
        <p:txBody>
          <a:bodyPr wrap="square" lIns="36576" rIns="36576" tIns="36576" bIns="36576" anchor="t">
            <a:spAutoFit/>
          </a:bodyPr>
          <a:lstStyle/>
          <a:p>
            <a:pPr algn="l"/>
            <a:r>
              <a:rPr sz="1500" b="1">
                <a:solidFill>
                  <a:srgbClr val="0A3422"/>
                </a:solidFill>
                <a:latin typeface="Aptos"/>
              </a:rPr>
              <a:t>TRIAL USERS</a:t>
            </a:r>
          </a:p>
        </p:txBody>
      </p:sp>
      <p:sp>
        <p:nvSpPr>
          <p:cNvPr id="29" name="TextBox 28"/>
          <p:cNvSpPr txBox="1"/>
          <p:nvPr/>
        </p:nvSpPr>
        <p:spPr>
          <a:xfrm>
            <a:off x="7086600" y="4133087"/>
            <a:ext cx="4069080" cy="868680"/>
          </a:xfrm>
          <a:prstGeom prst="rect">
            <a:avLst/>
          </a:prstGeom>
          <a:noFill/>
        </p:spPr>
        <p:txBody>
          <a:bodyPr wrap="square" lIns="36576" rIns="36576" tIns="36576" bIns="36576" anchor="t">
            <a:spAutoFit/>
          </a:bodyPr>
          <a:lstStyle/>
          <a:p>
            <a:pPr algn="l"/>
            <a:r>
              <a:rPr sz="1150" b="0">
                <a:solidFill>
                  <a:srgbClr val="606962"/>
                </a:solidFill>
                <a:latin typeface="Aptos"/>
              </a:rPr>
              <a:t>Read-only • Students • Auditors • Stakeholders</a:t>
            </a:r>
          </a:p>
        </p:txBody>
      </p:sp>
      <p:sp>
        <p:nvSpPr>
          <p:cNvPr id="30" name="TextBox 29"/>
          <p:cNvSpPr txBox="1"/>
          <p:nvPr/>
        </p:nvSpPr>
        <p:spPr>
          <a:xfrm>
            <a:off x="1280160" y="5486400"/>
            <a:ext cx="9601200" cy="365760"/>
          </a:xfrm>
          <a:prstGeom prst="rect">
            <a:avLst/>
          </a:prstGeom>
          <a:noFill/>
        </p:spPr>
        <p:txBody>
          <a:bodyPr wrap="square" lIns="36576" rIns="36576" tIns="36576" bIns="36576" anchor="t">
            <a:spAutoFit/>
          </a:bodyPr>
          <a:lstStyle/>
          <a:p>
            <a:pPr algn="ctr"/>
            <a:r>
              <a:rPr sz="1800" b="1">
                <a:solidFill>
                  <a:srgbClr val="0A3422"/>
                </a:solidFill>
                <a:latin typeface="Aptos"/>
              </a:rPr>
              <a:t>Different responsibilities. One trusted source of truth.</a:t>
            </a:r>
          </a:p>
        </p:txBody>
      </p:sp>
      <p:sp>
        <p:nvSpPr>
          <p:cNvPr id="31" name="TextBox 30"/>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32" name="Rectangle 31"/>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Market Target</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WHERE IT CAN SCALE</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17</a:t>
            </a:r>
          </a:p>
        </p:txBody>
      </p:sp>
      <p:sp>
        <p:nvSpPr>
          <p:cNvPr id="6" name="Rounded Rectangle 5"/>
          <p:cNvSpPr/>
          <p:nvPr/>
        </p:nvSpPr>
        <p:spPr>
          <a:xfrm>
            <a:off x="731520" y="1463040"/>
            <a:ext cx="5074920" cy="10515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1691640"/>
            <a:ext cx="566928" cy="566928"/>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91640"/>
            <a:ext cx="566928" cy="566928"/>
          </a:xfrm>
          <a:prstGeom prst="rect">
            <a:avLst/>
          </a:prstGeom>
          <a:noFill/>
        </p:spPr>
        <p:txBody>
          <a:bodyPr wrap="square" lIns="0" rIns="0" tIns="0" bIns="0" anchor="ctr">
            <a:spAutoFit/>
          </a:bodyPr>
          <a:lstStyle/>
          <a:p>
            <a:pPr algn="ctr"/>
            <a:r>
              <a:rPr sz="1100" b="1">
                <a:solidFill>
                  <a:srgbClr val="FFFFFF"/>
                </a:solidFill>
                <a:latin typeface="Aptos"/>
              </a:rPr>
              <a:t>1</a:t>
            </a:r>
          </a:p>
        </p:txBody>
      </p:sp>
      <p:sp>
        <p:nvSpPr>
          <p:cNvPr id="9" name="TextBox 8"/>
          <p:cNvSpPr txBox="1"/>
          <p:nvPr/>
        </p:nvSpPr>
        <p:spPr>
          <a:xfrm>
            <a:off x="1691640" y="1783080"/>
            <a:ext cx="3794760" cy="320040"/>
          </a:xfrm>
          <a:prstGeom prst="rect">
            <a:avLst/>
          </a:prstGeom>
          <a:noFill/>
        </p:spPr>
        <p:txBody>
          <a:bodyPr wrap="square" lIns="36576" rIns="36576" tIns="36576" bIns="36576" anchor="t">
            <a:spAutoFit/>
          </a:bodyPr>
          <a:lstStyle/>
          <a:p>
            <a:pPr algn="l"/>
            <a:r>
              <a:rPr sz="1500" b="1">
                <a:solidFill>
                  <a:srgbClr val="0A3422"/>
                </a:solidFill>
                <a:latin typeface="Aptos"/>
              </a:rPr>
              <a:t>Academic Institutions &amp; Universities</a:t>
            </a:r>
          </a:p>
        </p:txBody>
      </p:sp>
      <p:sp>
        <p:nvSpPr>
          <p:cNvPr id="10" name="Rounded Rectangle 9"/>
          <p:cNvSpPr/>
          <p:nvPr/>
        </p:nvSpPr>
        <p:spPr>
          <a:xfrm>
            <a:off x="6263640" y="1463040"/>
            <a:ext cx="5074920" cy="10515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1691640"/>
            <a:ext cx="566928" cy="566928"/>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91640"/>
            <a:ext cx="566928" cy="566928"/>
          </a:xfrm>
          <a:prstGeom prst="rect">
            <a:avLst/>
          </a:prstGeom>
          <a:noFill/>
        </p:spPr>
        <p:txBody>
          <a:bodyPr wrap="square" lIns="0" rIns="0" tIns="0" bIns="0" anchor="ctr">
            <a:spAutoFit/>
          </a:bodyPr>
          <a:lstStyle/>
          <a:p>
            <a:pPr algn="ctr"/>
            <a:r>
              <a:rPr sz="1100" b="1">
                <a:solidFill>
                  <a:srgbClr val="FFFFFF"/>
                </a:solidFill>
                <a:latin typeface="Aptos"/>
              </a:rPr>
              <a:t>2</a:t>
            </a:r>
          </a:p>
        </p:txBody>
      </p:sp>
      <p:sp>
        <p:nvSpPr>
          <p:cNvPr id="13" name="TextBox 12"/>
          <p:cNvSpPr txBox="1"/>
          <p:nvPr/>
        </p:nvSpPr>
        <p:spPr>
          <a:xfrm>
            <a:off x="7223759" y="1783080"/>
            <a:ext cx="3794760" cy="320040"/>
          </a:xfrm>
          <a:prstGeom prst="rect">
            <a:avLst/>
          </a:prstGeom>
          <a:noFill/>
        </p:spPr>
        <p:txBody>
          <a:bodyPr wrap="square" lIns="36576" rIns="36576" tIns="36576" bIns="36576" anchor="t">
            <a:spAutoFit/>
          </a:bodyPr>
          <a:lstStyle/>
          <a:p>
            <a:pPr algn="l"/>
            <a:r>
              <a:rPr sz="1500" b="1">
                <a:solidFill>
                  <a:srgbClr val="0A3422"/>
                </a:solidFill>
                <a:latin typeface="Aptos"/>
              </a:rPr>
              <a:t>Local &amp; Regional Museums</a:t>
            </a:r>
          </a:p>
        </p:txBody>
      </p:sp>
      <p:sp>
        <p:nvSpPr>
          <p:cNvPr id="14" name="Rounded Rectangle 13"/>
          <p:cNvSpPr/>
          <p:nvPr/>
        </p:nvSpPr>
        <p:spPr>
          <a:xfrm>
            <a:off x="731520" y="2880360"/>
            <a:ext cx="5074920" cy="10515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3108960"/>
            <a:ext cx="566928" cy="566928"/>
          </a:xfrm>
          <a:prstGeom prst="ellipse">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08960"/>
            <a:ext cx="566928" cy="566928"/>
          </a:xfrm>
          <a:prstGeom prst="rect">
            <a:avLst/>
          </a:prstGeom>
          <a:noFill/>
        </p:spPr>
        <p:txBody>
          <a:bodyPr wrap="square" lIns="0" rIns="0" tIns="0" bIns="0" anchor="ctr">
            <a:spAutoFit/>
          </a:bodyPr>
          <a:lstStyle/>
          <a:p>
            <a:pPr algn="ctr"/>
            <a:r>
              <a:rPr sz="1100" b="1">
                <a:solidFill>
                  <a:srgbClr val="FFFFFF"/>
                </a:solidFill>
                <a:latin typeface="Aptos"/>
              </a:rPr>
              <a:t>3</a:t>
            </a:r>
          </a:p>
        </p:txBody>
      </p:sp>
      <p:sp>
        <p:nvSpPr>
          <p:cNvPr id="17" name="TextBox 16"/>
          <p:cNvSpPr txBox="1"/>
          <p:nvPr/>
        </p:nvSpPr>
        <p:spPr>
          <a:xfrm>
            <a:off x="1691640" y="3200400"/>
            <a:ext cx="3794760" cy="320040"/>
          </a:xfrm>
          <a:prstGeom prst="rect">
            <a:avLst/>
          </a:prstGeom>
          <a:noFill/>
        </p:spPr>
        <p:txBody>
          <a:bodyPr wrap="square" lIns="36576" rIns="36576" tIns="36576" bIns="36576" anchor="t">
            <a:spAutoFit/>
          </a:bodyPr>
          <a:lstStyle/>
          <a:p>
            <a:pPr algn="l"/>
            <a:r>
              <a:rPr sz="1500" b="1">
                <a:solidFill>
                  <a:srgbClr val="0A3422"/>
                </a:solidFill>
                <a:latin typeface="Aptos"/>
              </a:rPr>
              <a:t>Government Cultural Ministries</a:t>
            </a:r>
          </a:p>
        </p:txBody>
      </p:sp>
      <p:sp>
        <p:nvSpPr>
          <p:cNvPr id="18" name="Rounded Rectangle 17"/>
          <p:cNvSpPr/>
          <p:nvPr/>
        </p:nvSpPr>
        <p:spPr>
          <a:xfrm>
            <a:off x="6263640" y="2880360"/>
            <a:ext cx="5074920" cy="10515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92240" y="3108960"/>
            <a:ext cx="566928" cy="566928"/>
          </a:xfrm>
          <a:prstGeom prst="ellipse">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108960"/>
            <a:ext cx="566928" cy="566928"/>
          </a:xfrm>
          <a:prstGeom prst="rect">
            <a:avLst/>
          </a:prstGeom>
          <a:noFill/>
        </p:spPr>
        <p:txBody>
          <a:bodyPr wrap="square" lIns="0" rIns="0" tIns="0" bIns="0" anchor="ctr">
            <a:spAutoFit/>
          </a:bodyPr>
          <a:lstStyle/>
          <a:p>
            <a:pPr algn="ctr"/>
            <a:r>
              <a:rPr sz="1100" b="1">
                <a:solidFill>
                  <a:srgbClr val="FFFFFF"/>
                </a:solidFill>
                <a:latin typeface="Aptos"/>
              </a:rPr>
              <a:t>4</a:t>
            </a:r>
          </a:p>
        </p:txBody>
      </p:sp>
      <p:sp>
        <p:nvSpPr>
          <p:cNvPr id="21" name="TextBox 20"/>
          <p:cNvSpPr txBox="1"/>
          <p:nvPr/>
        </p:nvSpPr>
        <p:spPr>
          <a:xfrm>
            <a:off x="7223759" y="3200400"/>
            <a:ext cx="3794760" cy="320040"/>
          </a:xfrm>
          <a:prstGeom prst="rect">
            <a:avLst/>
          </a:prstGeom>
          <a:noFill/>
        </p:spPr>
        <p:txBody>
          <a:bodyPr wrap="square" lIns="36576" rIns="36576" tIns="36576" bIns="36576" anchor="t">
            <a:spAutoFit/>
          </a:bodyPr>
          <a:lstStyle/>
          <a:p>
            <a:pPr algn="l"/>
            <a:r>
              <a:rPr sz="1500" b="1">
                <a:solidFill>
                  <a:srgbClr val="0A3422"/>
                </a:solidFill>
                <a:latin typeface="Aptos"/>
              </a:rPr>
              <a:t>Private Archaeological Contractors</a:t>
            </a:r>
          </a:p>
        </p:txBody>
      </p:sp>
      <p:sp>
        <p:nvSpPr>
          <p:cNvPr id="22" name="TextBox 21"/>
          <p:cNvSpPr txBox="1"/>
          <p:nvPr/>
        </p:nvSpPr>
        <p:spPr>
          <a:xfrm>
            <a:off x="914400" y="4663440"/>
            <a:ext cx="10332720" cy="685800"/>
          </a:xfrm>
          <a:prstGeom prst="rect">
            <a:avLst/>
          </a:prstGeom>
          <a:noFill/>
        </p:spPr>
        <p:txBody>
          <a:bodyPr wrap="square" lIns="36576" rIns="36576" tIns="36576" bIns="36576" anchor="t">
            <a:spAutoFit/>
          </a:bodyPr>
          <a:lstStyle/>
          <a:p>
            <a:pPr algn="ctr"/>
            <a:r>
              <a:rPr sz="1800" b="0">
                <a:solidFill>
                  <a:srgbClr val="606962"/>
                </a:solidFill>
                <a:latin typeface="Aptos"/>
              </a:rPr>
              <a:t>Scalable, web-based and designed for institutions that need robust tracking without heavyweight enterprise software.</a:t>
            </a:r>
          </a:p>
        </p:txBody>
      </p:sp>
      <p:sp>
        <p:nvSpPr>
          <p:cNvPr id="23" name="Rounded Rectangle 22"/>
          <p:cNvSpPr/>
          <p:nvPr/>
        </p:nvSpPr>
        <p:spPr>
          <a:xfrm>
            <a:off x="2834640" y="5577840"/>
            <a:ext cx="6583680" cy="41148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5660136"/>
            <a:ext cx="6309360" cy="228600"/>
          </a:xfrm>
          <a:prstGeom prst="rect">
            <a:avLst/>
          </a:prstGeom>
          <a:noFill/>
        </p:spPr>
        <p:txBody>
          <a:bodyPr wrap="square" lIns="36576" rIns="36576" tIns="36576" bIns="36576" anchor="t">
            <a:spAutoFit/>
          </a:bodyPr>
          <a:lstStyle/>
          <a:p>
            <a:pPr algn="ctr"/>
            <a:r>
              <a:rPr sz="1000" b="1">
                <a:solidFill>
                  <a:srgbClr val="FFFFFF"/>
                </a:solidFill>
                <a:latin typeface="Aptos"/>
              </a:rPr>
              <a:t>ONE PLATFORM  •  MANY HERITAGE INSTITUTIONS</a:t>
            </a:r>
          </a:p>
        </p:txBody>
      </p:sp>
      <p:sp>
        <p:nvSpPr>
          <p:cNvPr id="25" name="TextBox 24"/>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6" name="Rectangle 25"/>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Technologies &amp; Coding Languages</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THE BUILD</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18</a:t>
            </a:r>
          </a:p>
        </p:txBody>
      </p:sp>
      <p:sp>
        <p:nvSpPr>
          <p:cNvPr id="6" name="Rounded Rectangle 5"/>
          <p:cNvSpPr/>
          <p:nvPr/>
        </p:nvSpPr>
        <p:spPr>
          <a:xfrm>
            <a:off x="640080" y="1508760"/>
            <a:ext cx="2514600" cy="35661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2057400" cy="548640"/>
          </a:xfrm>
          <a:prstGeom prst="rect">
            <a:avLst/>
          </a:prstGeom>
          <a:noFill/>
        </p:spPr>
        <p:txBody>
          <a:bodyPr wrap="square" lIns="36576" rIns="36576" tIns="36576" bIns="36576" anchor="t">
            <a:spAutoFit/>
          </a:bodyPr>
          <a:lstStyle/>
          <a:p>
            <a:pPr algn="ctr"/>
            <a:r>
              <a:rPr sz="2400" b="1">
                <a:solidFill>
                  <a:srgbClr val="B25B3E"/>
                </a:solidFill>
                <a:latin typeface="Aptos"/>
              </a:rPr>
              <a:t>HTML</a:t>
            </a:r>
          </a:p>
        </p:txBody>
      </p:sp>
      <p:sp>
        <p:nvSpPr>
          <p:cNvPr id="8" name="TextBox 7"/>
          <p:cNvSpPr txBox="1"/>
          <p:nvPr/>
        </p:nvSpPr>
        <p:spPr>
          <a:xfrm>
            <a:off x="868680" y="2606040"/>
            <a:ext cx="2057400" cy="320040"/>
          </a:xfrm>
          <a:prstGeom prst="rect">
            <a:avLst/>
          </a:prstGeom>
          <a:noFill/>
        </p:spPr>
        <p:txBody>
          <a:bodyPr wrap="square" lIns="36576" rIns="36576" tIns="36576" bIns="36576" anchor="t">
            <a:spAutoFit/>
          </a:bodyPr>
          <a:lstStyle/>
          <a:p>
            <a:pPr algn="ctr"/>
            <a:r>
              <a:rPr sz="1200" b="1">
                <a:solidFill>
                  <a:srgbClr val="0A3422"/>
                </a:solidFill>
                <a:latin typeface="Aptos"/>
              </a:rPr>
              <a:t>Page structure</a:t>
            </a:r>
          </a:p>
        </p:txBody>
      </p:sp>
      <p:sp>
        <p:nvSpPr>
          <p:cNvPr id="9" name="TextBox 8"/>
          <p:cNvSpPr txBox="1"/>
          <p:nvPr/>
        </p:nvSpPr>
        <p:spPr>
          <a:xfrm>
            <a:off x="914400" y="3200400"/>
            <a:ext cx="1965960" cy="1097280"/>
          </a:xfrm>
          <a:prstGeom prst="rect">
            <a:avLst/>
          </a:prstGeom>
          <a:noFill/>
        </p:spPr>
        <p:txBody>
          <a:bodyPr wrap="square" lIns="36576" rIns="36576" tIns="36576" bIns="36576" anchor="t">
            <a:spAutoFit/>
          </a:bodyPr>
          <a:lstStyle/>
          <a:p>
            <a:pPr algn="ctr"/>
            <a:r>
              <a:rPr sz="1100" b="0">
                <a:solidFill>
                  <a:srgbClr val="606962"/>
                </a:solidFill>
                <a:latin typeface="Aptos"/>
              </a:rPr>
              <a:t>login • dashboard • artifacts • reports</a:t>
            </a:r>
          </a:p>
        </p:txBody>
      </p:sp>
      <p:sp>
        <p:nvSpPr>
          <p:cNvPr id="10" name="Rounded Rectangle 9"/>
          <p:cNvSpPr/>
          <p:nvPr/>
        </p:nvSpPr>
        <p:spPr>
          <a:xfrm>
            <a:off x="3474720" y="1508760"/>
            <a:ext cx="2514600" cy="35661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874519"/>
            <a:ext cx="2057400" cy="548640"/>
          </a:xfrm>
          <a:prstGeom prst="rect">
            <a:avLst/>
          </a:prstGeom>
          <a:noFill/>
        </p:spPr>
        <p:txBody>
          <a:bodyPr wrap="square" lIns="36576" rIns="36576" tIns="36576" bIns="36576" anchor="t">
            <a:spAutoFit/>
          </a:bodyPr>
          <a:lstStyle/>
          <a:p>
            <a:pPr algn="ctr"/>
            <a:r>
              <a:rPr sz="2400" b="1">
                <a:solidFill>
                  <a:srgbClr val="D2A437"/>
                </a:solidFill>
                <a:latin typeface="Aptos"/>
              </a:rPr>
              <a:t>CSS</a:t>
            </a:r>
          </a:p>
        </p:txBody>
      </p:sp>
      <p:sp>
        <p:nvSpPr>
          <p:cNvPr id="12" name="TextBox 11"/>
          <p:cNvSpPr txBox="1"/>
          <p:nvPr/>
        </p:nvSpPr>
        <p:spPr>
          <a:xfrm>
            <a:off x="3703320" y="2606040"/>
            <a:ext cx="2057400" cy="320040"/>
          </a:xfrm>
          <a:prstGeom prst="rect">
            <a:avLst/>
          </a:prstGeom>
          <a:noFill/>
        </p:spPr>
        <p:txBody>
          <a:bodyPr wrap="square" lIns="36576" rIns="36576" tIns="36576" bIns="36576" anchor="t">
            <a:spAutoFit/>
          </a:bodyPr>
          <a:lstStyle/>
          <a:p>
            <a:pPr algn="ctr"/>
            <a:r>
              <a:rPr sz="1200" b="1">
                <a:solidFill>
                  <a:srgbClr val="0A3422"/>
                </a:solidFill>
                <a:latin typeface="Aptos"/>
              </a:rPr>
              <a:t>Visual system</a:t>
            </a:r>
          </a:p>
        </p:txBody>
      </p:sp>
      <p:sp>
        <p:nvSpPr>
          <p:cNvPr id="13" name="TextBox 12"/>
          <p:cNvSpPr txBox="1"/>
          <p:nvPr/>
        </p:nvSpPr>
        <p:spPr>
          <a:xfrm>
            <a:off x="3749039" y="3200400"/>
            <a:ext cx="1965960" cy="1097280"/>
          </a:xfrm>
          <a:prstGeom prst="rect">
            <a:avLst/>
          </a:prstGeom>
          <a:noFill/>
        </p:spPr>
        <p:txBody>
          <a:bodyPr wrap="square" lIns="36576" rIns="36576" tIns="36576" bIns="36576" anchor="t">
            <a:spAutoFit/>
          </a:bodyPr>
          <a:lstStyle/>
          <a:p>
            <a:pPr algn="ctr"/>
            <a:r>
              <a:rPr sz="1100" b="0">
                <a:solidFill>
                  <a:srgbClr val="606962"/>
                </a:solidFill>
                <a:latin typeface="Aptos"/>
              </a:rPr>
              <a:t>Grid • responsive design • light/dark mode</a:t>
            </a:r>
          </a:p>
        </p:txBody>
      </p:sp>
      <p:sp>
        <p:nvSpPr>
          <p:cNvPr id="14" name="Rounded Rectangle 13"/>
          <p:cNvSpPr/>
          <p:nvPr/>
        </p:nvSpPr>
        <p:spPr>
          <a:xfrm>
            <a:off x="6309360" y="1508760"/>
            <a:ext cx="2514600" cy="35661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874519"/>
            <a:ext cx="2057400" cy="548640"/>
          </a:xfrm>
          <a:prstGeom prst="rect">
            <a:avLst/>
          </a:prstGeom>
          <a:noFill/>
        </p:spPr>
        <p:txBody>
          <a:bodyPr wrap="square" lIns="36576" rIns="36576" tIns="36576" bIns="36576" anchor="t">
            <a:spAutoFit/>
          </a:bodyPr>
          <a:lstStyle/>
          <a:p>
            <a:pPr algn="ctr"/>
            <a:r>
              <a:rPr sz="2400" b="1">
                <a:solidFill>
                  <a:srgbClr val="CD912D"/>
                </a:solidFill>
                <a:latin typeface="Aptos"/>
              </a:rPr>
              <a:t>JavaScript</a:t>
            </a:r>
          </a:p>
        </p:txBody>
      </p:sp>
      <p:sp>
        <p:nvSpPr>
          <p:cNvPr id="16" name="TextBox 15"/>
          <p:cNvSpPr txBox="1"/>
          <p:nvPr/>
        </p:nvSpPr>
        <p:spPr>
          <a:xfrm>
            <a:off x="6537960" y="2606040"/>
            <a:ext cx="2057400" cy="320040"/>
          </a:xfrm>
          <a:prstGeom prst="rect">
            <a:avLst/>
          </a:prstGeom>
          <a:noFill/>
        </p:spPr>
        <p:txBody>
          <a:bodyPr wrap="square" lIns="36576" rIns="36576" tIns="36576" bIns="36576" anchor="t">
            <a:spAutoFit/>
          </a:bodyPr>
          <a:lstStyle/>
          <a:p>
            <a:pPr algn="ctr"/>
            <a:r>
              <a:rPr sz="1200" b="1">
                <a:solidFill>
                  <a:srgbClr val="0A3422"/>
                </a:solidFill>
                <a:latin typeface="Aptos"/>
              </a:rPr>
              <a:t>Dynamic behavior</a:t>
            </a:r>
          </a:p>
        </p:txBody>
      </p:sp>
      <p:sp>
        <p:nvSpPr>
          <p:cNvPr id="17" name="TextBox 16"/>
          <p:cNvSpPr txBox="1"/>
          <p:nvPr/>
        </p:nvSpPr>
        <p:spPr>
          <a:xfrm>
            <a:off x="6583680" y="3200400"/>
            <a:ext cx="1965960" cy="1097280"/>
          </a:xfrm>
          <a:prstGeom prst="rect">
            <a:avLst/>
          </a:prstGeom>
          <a:noFill/>
        </p:spPr>
        <p:txBody>
          <a:bodyPr wrap="square" lIns="36576" rIns="36576" tIns="36576" bIns="36576" anchor="t">
            <a:spAutoFit/>
          </a:bodyPr>
          <a:lstStyle/>
          <a:p>
            <a:pPr algn="ctr"/>
            <a:r>
              <a:rPr sz="1100" b="0">
                <a:solidFill>
                  <a:srgbClr val="606962"/>
                </a:solidFill>
                <a:latin typeface="Aptos"/>
              </a:rPr>
              <a:t>status • watchlist • interactions</a:t>
            </a:r>
          </a:p>
        </p:txBody>
      </p:sp>
      <p:sp>
        <p:nvSpPr>
          <p:cNvPr id="18" name="Rounded Rectangle 17"/>
          <p:cNvSpPr/>
          <p:nvPr/>
        </p:nvSpPr>
        <p:spPr>
          <a:xfrm>
            <a:off x="9144000" y="1508760"/>
            <a:ext cx="2514600" cy="3566160"/>
          </a:xfrm>
          <a:prstGeom prst="roundRect">
            <a:avLst>
              <a:gd name="adj" fmla="val 12000"/>
            </a:avLst>
          </a:prstGeom>
          <a:solidFill>
            <a:srgbClr val="FFFFFF"/>
          </a:solidFill>
          <a:ln>
            <a:solidFill>
              <a:srgbClr val="E4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1874519"/>
            <a:ext cx="2057400" cy="548640"/>
          </a:xfrm>
          <a:prstGeom prst="rect">
            <a:avLst/>
          </a:prstGeom>
          <a:noFill/>
        </p:spPr>
        <p:txBody>
          <a:bodyPr wrap="square" lIns="36576" rIns="36576" tIns="36576" bIns="36576" anchor="t">
            <a:spAutoFit/>
          </a:bodyPr>
          <a:lstStyle/>
          <a:p>
            <a:pPr algn="ctr"/>
            <a:r>
              <a:rPr sz="2400" b="1">
                <a:solidFill>
                  <a:srgbClr val="135334"/>
                </a:solidFill>
                <a:latin typeface="Aptos"/>
              </a:rPr>
              <a:t>Python</a:t>
            </a:r>
          </a:p>
        </p:txBody>
      </p:sp>
      <p:sp>
        <p:nvSpPr>
          <p:cNvPr id="20" name="TextBox 19"/>
          <p:cNvSpPr txBox="1"/>
          <p:nvPr/>
        </p:nvSpPr>
        <p:spPr>
          <a:xfrm>
            <a:off x="9372600" y="2606040"/>
            <a:ext cx="2057400" cy="320040"/>
          </a:xfrm>
          <a:prstGeom prst="rect">
            <a:avLst/>
          </a:prstGeom>
          <a:noFill/>
        </p:spPr>
        <p:txBody>
          <a:bodyPr wrap="square" lIns="36576" rIns="36576" tIns="36576" bIns="36576" anchor="t">
            <a:spAutoFit/>
          </a:bodyPr>
          <a:lstStyle/>
          <a:p>
            <a:pPr algn="ctr"/>
            <a:r>
              <a:rPr sz="1200" b="1">
                <a:solidFill>
                  <a:srgbClr val="0A3422"/>
                </a:solidFill>
                <a:latin typeface="Aptos"/>
              </a:rPr>
              <a:t>Backend logic</a:t>
            </a:r>
          </a:p>
        </p:txBody>
      </p:sp>
      <p:sp>
        <p:nvSpPr>
          <p:cNvPr id="21" name="TextBox 20"/>
          <p:cNvSpPr txBox="1"/>
          <p:nvPr/>
        </p:nvSpPr>
        <p:spPr>
          <a:xfrm>
            <a:off x="9418320" y="3200400"/>
            <a:ext cx="1965960" cy="1097280"/>
          </a:xfrm>
          <a:prstGeom prst="rect">
            <a:avLst/>
          </a:prstGeom>
          <a:noFill/>
        </p:spPr>
        <p:txBody>
          <a:bodyPr wrap="square" lIns="36576" rIns="36576" tIns="36576" bIns="36576" anchor="t">
            <a:spAutoFit/>
          </a:bodyPr>
          <a:lstStyle/>
          <a:p>
            <a:pPr algn="ctr"/>
            <a:r>
              <a:rPr sz="1100" b="0">
                <a:solidFill>
                  <a:srgbClr val="606962"/>
                </a:solidFill>
                <a:latin typeface="Aptos"/>
              </a:rPr>
              <a:t>auth • RBAC • database • PDF reports</a:t>
            </a:r>
          </a:p>
        </p:txBody>
      </p:sp>
      <p:sp>
        <p:nvSpPr>
          <p:cNvPr id="22" name="TextBox 21"/>
          <p:cNvSpPr txBox="1"/>
          <p:nvPr/>
        </p:nvSpPr>
        <p:spPr>
          <a:xfrm>
            <a:off x="914400" y="5532120"/>
            <a:ext cx="10241280" cy="365760"/>
          </a:xfrm>
          <a:prstGeom prst="rect">
            <a:avLst/>
          </a:prstGeom>
          <a:noFill/>
        </p:spPr>
        <p:txBody>
          <a:bodyPr wrap="square" lIns="36576" rIns="36576" tIns="36576" bIns="36576" anchor="t">
            <a:spAutoFit/>
          </a:bodyPr>
          <a:lstStyle/>
          <a:p>
            <a:pPr algn="ctr"/>
            <a:r>
              <a:rPr sz="1300" b="1">
                <a:solidFill>
                  <a:srgbClr val="B25B3E"/>
                </a:solidFill>
                <a:latin typeface="Aptos"/>
              </a:rPr>
              <a:t>Optional stack: Flask / Django  •  SQLite / PostgreSQL  •  Bootstrap</a:t>
            </a:r>
          </a:p>
        </p:txBody>
      </p:sp>
      <p:sp>
        <p:nvSpPr>
          <p:cNvPr id="23" name="TextBox 22"/>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4" name="Rectangle 23"/>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How the Code Works Together</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CODE IN ACTION</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19</a:t>
            </a:r>
          </a:p>
        </p:txBody>
      </p:sp>
      <p:sp>
        <p:nvSpPr>
          <p:cNvPr id="6" name="Rounded Rectangle 5"/>
          <p:cNvSpPr/>
          <p:nvPr/>
        </p:nvSpPr>
        <p:spPr>
          <a:xfrm>
            <a:off x="822960" y="1417320"/>
            <a:ext cx="2103120" cy="68580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1828800" cy="292608"/>
          </a:xfrm>
          <a:prstGeom prst="rect">
            <a:avLst/>
          </a:prstGeom>
          <a:noFill/>
        </p:spPr>
        <p:txBody>
          <a:bodyPr wrap="square" lIns="36576" rIns="36576" tIns="36576" bIns="36576" anchor="t">
            <a:spAutoFit/>
          </a:bodyPr>
          <a:lstStyle/>
          <a:p>
            <a:pPr algn="ctr"/>
            <a:r>
              <a:rPr sz="1700" b="1">
                <a:solidFill>
                  <a:srgbClr val="F2CA69"/>
                </a:solidFill>
                <a:latin typeface="Aptos"/>
              </a:rPr>
              <a:t>/login</a:t>
            </a:r>
          </a:p>
        </p:txBody>
      </p:sp>
      <p:sp>
        <p:nvSpPr>
          <p:cNvPr id="8" name="TextBox 7"/>
          <p:cNvSpPr txBox="1"/>
          <p:nvPr/>
        </p:nvSpPr>
        <p:spPr>
          <a:xfrm>
            <a:off x="3337560" y="1581912"/>
            <a:ext cx="7223760" cy="365760"/>
          </a:xfrm>
          <a:prstGeom prst="rect">
            <a:avLst/>
          </a:prstGeom>
          <a:noFill/>
        </p:spPr>
        <p:txBody>
          <a:bodyPr wrap="square" lIns="36576" rIns="36576" tIns="36576" bIns="36576" anchor="t">
            <a:spAutoFit/>
          </a:bodyPr>
          <a:lstStyle/>
          <a:p>
            <a:pPr algn="l"/>
            <a:r>
              <a:rPr sz="1600" b="1">
                <a:solidFill>
                  <a:srgbClr val="232B26"/>
                </a:solidFill>
                <a:latin typeface="Aptos"/>
              </a:rPr>
              <a:t>Python checks credentials + role</a:t>
            </a:r>
          </a:p>
        </p:txBody>
      </p:sp>
      <p:sp>
        <p:nvSpPr>
          <p:cNvPr id="9" name="Rounded Rectangle 8"/>
          <p:cNvSpPr/>
          <p:nvPr/>
        </p:nvSpPr>
        <p:spPr>
          <a:xfrm>
            <a:off x="10607040" y="1618488"/>
            <a:ext cx="457200" cy="274320"/>
          </a:xfrm>
          <a:prstGeom prst="roundRect">
            <a:avLst>
              <a:gd name="adj" fmla="val 12000"/>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496312"/>
            <a:ext cx="2103120" cy="68580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679192"/>
            <a:ext cx="1828800" cy="292608"/>
          </a:xfrm>
          <a:prstGeom prst="rect">
            <a:avLst/>
          </a:prstGeom>
          <a:noFill/>
        </p:spPr>
        <p:txBody>
          <a:bodyPr wrap="square" lIns="36576" rIns="36576" tIns="36576" bIns="36576" anchor="t">
            <a:spAutoFit/>
          </a:bodyPr>
          <a:lstStyle/>
          <a:p>
            <a:pPr algn="ctr"/>
            <a:r>
              <a:rPr sz="1700" b="1">
                <a:solidFill>
                  <a:srgbClr val="F2CA69"/>
                </a:solidFill>
                <a:latin typeface="Aptos"/>
              </a:rPr>
              <a:t>/artifacts</a:t>
            </a:r>
          </a:p>
        </p:txBody>
      </p:sp>
      <p:sp>
        <p:nvSpPr>
          <p:cNvPr id="12" name="TextBox 11"/>
          <p:cNvSpPr txBox="1"/>
          <p:nvPr/>
        </p:nvSpPr>
        <p:spPr>
          <a:xfrm>
            <a:off x="3337560" y="2660904"/>
            <a:ext cx="7223760" cy="365760"/>
          </a:xfrm>
          <a:prstGeom prst="rect">
            <a:avLst/>
          </a:prstGeom>
          <a:noFill/>
        </p:spPr>
        <p:txBody>
          <a:bodyPr wrap="square" lIns="36576" rIns="36576" tIns="36576" bIns="36576" anchor="t">
            <a:spAutoFit/>
          </a:bodyPr>
          <a:lstStyle/>
          <a:p>
            <a:pPr algn="l"/>
            <a:r>
              <a:rPr sz="1600" b="1">
                <a:solidFill>
                  <a:srgbClr val="232B26"/>
                </a:solidFill>
                <a:latin typeface="Aptos"/>
              </a:rPr>
              <a:t>Form submits → HG-XXXX generated</a:t>
            </a:r>
          </a:p>
        </p:txBody>
      </p:sp>
      <p:sp>
        <p:nvSpPr>
          <p:cNvPr id="13" name="Rounded Rectangle 12"/>
          <p:cNvSpPr/>
          <p:nvPr/>
        </p:nvSpPr>
        <p:spPr>
          <a:xfrm>
            <a:off x="10607040" y="2697480"/>
            <a:ext cx="457200" cy="274320"/>
          </a:xfrm>
          <a:prstGeom prst="roundRect">
            <a:avLst>
              <a:gd name="adj" fmla="val 12000"/>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3575304"/>
            <a:ext cx="2103120" cy="68580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58184"/>
            <a:ext cx="1828800" cy="292608"/>
          </a:xfrm>
          <a:prstGeom prst="rect">
            <a:avLst/>
          </a:prstGeom>
          <a:noFill/>
        </p:spPr>
        <p:txBody>
          <a:bodyPr wrap="square" lIns="36576" rIns="36576" tIns="36576" bIns="36576" anchor="t">
            <a:spAutoFit/>
          </a:bodyPr>
          <a:lstStyle/>
          <a:p>
            <a:pPr algn="ctr"/>
            <a:r>
              <a:rPr sz="1700" b="1">
                <a:solidFill>
                  <a:srgbClr val="F2CA69"/>
                </a:solidFill>
                <a:latin typeface="Aptos"/>
              </a:rPr>
              <a:t>/dashboard</a:t>
            </a:r>
          </a:p>
        </p:txBody>
      </p:sp>
      <p:sp>
        <p:nvSpPr>
          <p:cNvPr id="16" name="TextBox 15"/>
          <p:cNvSpPr txBox="1"/>
          <p:nvPr/>
        </p:nvSpPr>
        <p:spPr>
          <a:xfrm>
            <a:off x="3337560" y="3739896"/>
            <a:ext cx="7223760" cy="365760"/>
          </a:xfrm>
          <a:prstGeom prst="rect">
            <a:avLst/>
          </a:prstGeom>
          <a:noFill/>
        </p:spPr>
        <p:txBody>
          <a:bodyPr wrap="square" lIns="36576" rIns="36576" tIns="36576" bIns="36576" anchor="t">
            <a:spAutoFit/>
          </a:bodyPr>
          <a:lstStyle/>
          <a:p>
            <a:pPr algn="l"/>
            <a:r>
              <a:rPr sz="1600" b="1">
                <a:solidFill>
                  <a:srgbClr val="232B26"/>
                </a:solidFill>
                <a:latin typeface="Aptos"/>
              </a:rPr>
              <a:t>JavaScript updates status + location</a:t>
            </a:r>
          </a:p>
        </p:txBody>
      </p:sp>
      <p:sp>
        <p:nvSpPr>
          <p:cNvPr id="17" name="Rounded Rectangle 16"/>
          <p:cNvSpPr/>
          <p:nvPr/>
        </p:nvSpPr>
        <p:spPr>
          <a:xfrm>
            <a:off x="10607040" y="3776472"/>
            <a:ext cx="457200" cy="274320"/>
          </a:xfrm>
          <a:prstGeom prst="roundRect">
            <a:avLst>
              <a:gd name="adj" fmla="val 12000"/>
            </a:avLst>
          </a:prstGeom>
          <a:solidFill>
            <a:srgbClr val="B25B3E"/>
          </a:solidFill>
          <a:ln>
            <a:solidFill>
              <a:srgbClr val="B25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 y="4654296"/>
            <a:ext cx="2103120" cy="685800"/>
          </a:xfrm>
          <a:prstGeom prst="roundRect">
            <a:avLst>
              <a:gd name="adj" fmla="val 12000"/>
            </a:avLst>
          </a:prstGeom>
          <a:solidFill>
            <a:srgbClr val="0A3422"/>
          </a:solidFill>
          <a:ln>
            <a:solidFill>
              <a:srgbClr val="0A3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837176"/>
            <a:ext cx="1828800" cy="292608"/>
          </a:xfrm>
          <a:prstGeom prst="rect">
            <a:avLst/>
          </a:prstGeom>
          <a:noFill/>
        </p:spPr>
        <p:txBody>
          <a:bodyPr wrap="square" lIns="36576" rIns="36576" tIns="36576" bIns="36576" anchor="t">
            <a:spAutoFit/>
          </a:bodyPr>
          <a:lstStyle/>
          <a:p>
            <a:pPr algn="ctr"/>
            <a:r>
              <a:rPr sz="1700" b="1">
                <a:solidFill>
                  <a:srgbClr val="F2CA69"/>
                </a:solidFill>
                <a:latin typeface="Aptos"/>
              </a:rPr>
              <a:t>/reports</a:t>
            </a:r>
          </a:p>
        </p:txBody>
      </p:sp>
      <p:sp>
        <p:nvSpPr>
          <p:cNvPr id="20" name="TextBox 19"/>
          <p:cNvSpPr txBox="1"/>
          <p:nvPr/>
        </p:nvSpPr>
        <p:spPr>
          <a:xfrm>
            <a:off x="3337560" y="4818888"/>
            <a:ext cx="7223760" cy="365760"/>
          </a:xfrm>
          <a:prstGeom prst="rect">
            <a:avLst/>
          </a:prstGeom>
          <a:noFill/>
        </p:spPr>
        <p:txBody>
          <a:bodyPr wrap="square" lIns="36576" rIns="36576" tIns="36576" bIns="36576" anchor="t">
            <a:spAutoFit/>
          </a:bodyPr>
          <a:lstStyle/>
          <a:p>
            <a:pPr algn="l"/>
            <a:r>
              <a:rPr sz="1600" b="1">
                <a:solidFill>
                  <a:srgbClr val="232B26"/>
                </a:solidFill>
                <a:latin typeface="Aptos"/>
              </a:rPr>
              <a:t>Backend creates printable PDF</a:t>
            </a:r>
          </a:p>
        </p:txBody>
      </p:sp>
      <p:sp>
        <p:nvSpPr>
          <p:cNvPr id="21" name="Rounded Rectangle 20"/>
          <p:cNvSpPr/>
          <p:nvPr/>
        </p:nvSpPr>
        <p:spPr>
          <a:xfrm>
            <a:off x="10607040" y="4855464"/>
            <a:ext cx="457200" cy="274320"/>
          </a:xfrm>
          <a:prstGeom prst="roundRect">
            <a:avLst>
              <a:gd name="adj" fmla="val 12000"/>
            </a:avLst>
          </a:prstGeom>
          <a:solidFill>
            <a:srgbClr val="135334"/>
          </a:solidFill>
          <a:ln>
            <a:solidFill>
              <a:srgbClr val="135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965960" y="5715000"/>
            <a:ext cx="8229600" cy="457200"/>
          </a:xfrm>
          <a:prstGeom prst="roundRect">
            <a:avLst>
              <a:gd name="adj" fmla="val 12000"/>
            </a:avLst>
          </a:prstGeom>
          <a:solidFill>
            <a:srgbClr val="E1EFE6"/>
          </a:solidFill>
          <a:ln>
            <a:solidFill>
              <a:srgbClr val="E1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48840" y="5824728"/>
            <a:ext cx="7863840" cy="228600"/>
          </a:xfrm>
          <a:prstGeom prst="rect">
            <a:avLst/>
          </a:prstGeom>
          <a:noFill/>
        </p:spPr>
        <p:txBody>
          <a:bodyPr wrap="square" lIns="36576" rIns="36576" tIns="36576" bIns="36576" anchor="t">
            <a:spAutoFit/>
          </a:bodyPr>
          <a:lstStyle/>
          <a:p>
            <a:pPr algn="ctr"/>
            <a:r>
              <a:rPr sz="1100" b="1">
                <a:solidFill>
                  <a:srgbClr val="135334"/>
                </a:solidFill>
                <a:latin typeface="Aptos"/>
              </a:rPr>
              <a:t>Frontend experience + backend intelligence + secure data = Heritage Guard</a:t>
            </a:r>
          </a:p>
        </p:txBody>
      </p:sp>
      <p:sp>
        <p:nvSpPr>
          <p:cNvPr id="24" name="TextBox 23"/>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25" name="Rectangle 24"/>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3422"/>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94360"/>
            <a:ext cx="7772400" cy="274320"/>
          </a:xfrm>
          <a:prstGeom prst="rect">
            <a:avLst/>
          </a:prstGeom>
          <a:noFill/>
        </p:spPr>
        <p:txBody>
          <a:bodyPr wrap="square" lIns="36576" rIns="36576" tIns="36576" bIns="36576" anchor="t">
            <a:spAutoFit/>
          </a:bodyPr>
          <a:lstStyle/>
          <a:p>
            <a:pPr algn="l"/>
            <a:r>
              <a:rPr sz="1100" b="1">
                <a:solidFill>
                  <a:srgbClr val="F2CA69"/>
                </a:solidFill>
                <a:latin typeface="Aptos"/>
              </a:rPr>
              <a:t>CONNECTION TO UNEARTHED</a:t>
            </a:r>
          </a:p>
        </p:txBody>
      </p:sp>
      <p:sp>
        <p:nvSpPr>
          <p:cNvPr id="4" name="TextBox 3"/>
          <p:cNvSpPr txBox="1"/>
          <p:nvPr/>
        </p:nvSpPr>
        <p:spPr>
          <a:xfrm>
            <a:off x="731520" y="1325880"/>
            <a:ext cx="10515600" cy="685800"/>
          </a:xfrm>
          <a:prstGeom prst="rect">
            <a:avLst/>
          </a:prstGeom>
          <a:noFill/>
        </p:spPr>
        <p:txBody>
          <a:bodyPr wrap="square" lIns="36576" rIns="36576" tIns="36576" bIns="36576" anchor="t">
            <a:spAutoFit/>
          </a:bodyPr>
          <a:lstStyle/>
          <a:p>
            <a:pPr algn="ctr"/>
            <a:r>
              <a:rPr sz="3500" b="1">
                <a:solidFill>
                  <a:srgbClr val="FFFFFF"/>
                </a:solidFill>
                <a:latin typeface="Aptos"/>
              </a:rPr>
              <a:t>Unearthing is only the beginning.</a:t>
            </a:r>
          </a:p>
        </p:txBody>
      </p:sp>
      <p:sp>
        <p:nvSpPr>
          <p:cNvPr id="5" name="TextBox 4"/>
          <p:cNvSpPr txBox="1"/>
          <p:nvPr/>
        </p:nvSpPr>
        <p:spPr>
          <a:xfrm>
            <a:off x="1188720" y="2331720"/>
            <a:ext cx="9784080" cy="640080"/>
          </a:xfrm>
          <a:prstGeom prst="rect">
            <a:avLst/>
          </a:prstGeom>
          <a:noFill/>
        </p:spPr>
        <p:txBody>
          <a:bodyPr wrap="square" lIns="36576" rIns="36576" tIns="36576" bIns="36576" anchor="t">
            <a:spAutoFit/>
          </a:bodyPr>
          <a:lstStyle/>
          <a:p>
            <a:pPr algn="ctr"/>
            <a:r>
              <a:rPr sz="1800" b="0">
                <a:solidFill>
                  <a:srgbClr val="F6EED7"/>
                </a:solidFill>
                <a:latin typeface="Aptos"/>
              </a:rPr>
              <a:t>The FIRST LEGO League UNEARTHED season challenges teams to explore archaeology and help uncover the past.</a:t>
            </a:r>
          </a:p>
        </p:txBody>
      </p:sp>
      <p:sp>
        <p:nvSpPr>
          <p:cNvPr id="6" name="TextBox 5"/>
          <p:cNvSpPr txBox="1"/>
          <p:nvPr/>
        </p:nvSpPr>
        <p:spPr>
          <a:xfrm>
            <a:off x="1371600" y="3246120"/>
            <a:ext cx="9418320" cy="365760"/>
          </a:xfrm>
          <a:prstGeom prst="rect">
            <a:avLst/>
          </a:prstGeom>
          <a:noFill/>
        </p:spPr>
        <p:txBody>
          <a:bodyPr wrap="square" lIns="36576" rIns="36576" tIns="36576" bIns="36576" anchor="t">
            <a:spAutoFit/>
          </a:bodyPr>
          <a:lstStyle/>
          <a:p>
            <a:pPr algn="ctr"/>
            <a:r>
              <a:rPr sz="1700" b="1">
                <a:solidFill>
                  <a:srgbClr val="F2CA69"/>
                </a:solidFill>
                <a:latin typeface="Aptos"/>
              </a:rPr>
              <a:t>Heritage Guard asks the next question:</a:t>
            </a:r>
          </a:p>
        </p:txBody>
      </p:sp>
      <p:sp>
        <p:nvSpPr>
          <p:cNvPr id="7" name="TextBox 6"/>
          <p:cNvSpPr txBox="1"/>
          <p:nvPr/>
        </p:nvSpPr>
        <p:spPr>
          <a:xfrm>
            <a:off x="1097280" y="3794760"/>
            <a:ext cx="9966960" cy="640080"/>
          </a:xfrm>
          <a:prstGeom prst="rect">
            <a:avLst/>
          </a:prstGeom>
          <a:noFill/>
        </p:spPr>
        <p:txBody>
          <a:bodyPr wrap="square" lIns="36576" rIns="36576" tIns="36576" bIns="36576" anchor="t">
            <a:spAutoFit/>
          </a:bodyPr>
          <a:lstStyle/>
          <a:p>
            <a:pPr algn="ctr"/>
            <a:r>
              <a:rPr sz="2500" b="1">
                <a:solidFill>
                  <a:srgbClr val="FFFFFF"/>
                </a:solidFill>
                <a:latin typeface="Aptos"/>
              </a:rPr>
              <a:t>“How do we make sure what we find is still here tomorrow?”</a:t>
            </a:r>
          </a:p>
        </p:txBody>
      </p:sp>
      <p:sp>
        <p:nvSpPr>
          <p:cNvPr id="8" name="Rounded Rectangle 7"/>
          <p:cNvSpPr/>
          <p:nvPr/>
        </p:nvSpPr>
        <p:spPr>
          <a:xfrm>
            <a:off x="1874519" y="4892040"/>
            <a:ext cx="8458200" cy="685800"/>
          </a:xfrm>
          <a:prstGeom prst="roundRect">
            <a:avLst>
              <a:gd name="adj" fmla="val 12000"/>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5093208"/>
            <a:ext cx="8092440" cy="274320"/>
          </a:xfrm>
          <a:prstGeom prst="rect">
            <a:avLst/>
          </a:prstGeom>
          <a:noFill/>
        </p:spPr>
        <p:txBody>
          <a:bodyPr wrap="square" lIns="36576" rIns="36576" tIns="36576" bIns="36576" anchor="t">
            <a:spAutoFit/>
          </a:bodyPr>
          <a:lstStyle/>
          <a:p>
            <a:pPr algn="ctr"/>
            <a:r>
              <a:rPr sz="1300" b="1">
                <a:solidFill>
                  <a:srgbClr val="0A3422"/>
                </a:solidFill>
                <a:latin typeface="Aptos"/>
              </a:rPr>
              <a:t>DISCOVER  →  PROTECT  →  STUDY  →  SHARE  →  PRESERVE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EED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9875520" cy="594360"/>
          </a:xfrm>
          <a:prstGeom prst="rect">
            <a:avLst/>
          </a:prstGeom>
          <a:noFill/>
        </p:spPr>
        <p:txBody>
          <a:bodyPr wrap="square" lIns="36576" rIns="36576" tIns="36576" bIns="36576" anchor="t">
            <a:spAutoFit/>
          </a:bodyPr>
          <a:lstStyle/>
          <a:p>
            <a:pPr algn="l"/>
            <a:r>
              <a:rPr sz="2700" b="1">
                <a:solidFill>
                  <a:srgbClr val="0A3422"/>
                </a:solidFill>
                <a:latin typeface="Aptos Display"/>
              </a:rPr>
              <a:t>Conclusion</a:t>
            </a:r>
          </a:p>
        </p:txBody>
      </p:sp>
      <p:sp>
        <p:nvSpPr>
          <p:cNvPr id="4" name="TextBox 3"/>
          <p:cNvSpPr txBox="1"/>
          <p:nvPr/>
        </p:nvSpPr>
        <p:spPr>
          <a:xfrm>
            <a:off x="621792" y="932688"/>
            <a:ext cx="3657600" cy="228600"/>
          </a:xfrm>
          <a:prstGeom prst="rect">
            <a:avLst/>
          </a:prstGeom>
          <a:noFill/>
        </p:spPr>
        <p:txBody>
          <a:bodyPr wrap="square" lIns="36576" rIns="36576" tIns="36576" bIns="36576" anchor="t">
            <a:spAutoFit/>
          </a:bodyPr>
          <a:lstStyle/>
          <a:p>
            <a:pPr algn="l"/>
            <a:r>
              <a:rPr sz="900" b="1">
                <a:solidFill>
                  <a:srgbClr val="B25B3E"/>
                </a:solidFill>
                <a:latin typeface="Aptos"/>
              </a:rPr>
              <a:t>THE PROMISE</a:t>
            </a:r>
          </a:p>
        </p:txBody>
      </p:sp>
      <p:sp>
        <p:nvSpPr>
          <p:cNvPr id="5" name="TextBox 4"/>
          <p:cNvSpPr txBox="1"/>
          <p:nvPr/>
        </p:nvSpPr>
        <p:spPr>
          <a:xfrm>
            <a:off x="11109960" y="393192"/>
            <a:ext cx="502920" cy="365760"/>
          </a:xfrm>
          <a:prstGeom prst="rect">
            <a:avLst/>
          </a:prstGeom>
          <a:noFill/>
        </p:spPr>
        <p:txBody>
          <a:bodyPr wrap="square" lIns="36576" rIns="36576" tIns="36576" bIns="36576" anchor="t">
            <a:spAutoFit/>
          </a:bodyPr>
          <a:lstStyle/>
          <a:p>
            <a:pPr algn="r"/>
            <a:r>
              <a:rPr sz="1200" b="1">
                <a:solidFill>
                  <a:srgbClr val="D2A437"/>
                </a:solidFill>
                <a:latin typeface="Aptos"/>
              </a:rPr>
              <a:t>21</a:t>
            </a:r>
          </a:p>
        </p:txBody>
      </p:sp>
      <p:sp>
        <p:nvSpPr>
          <p:cNvPr id="6" name="TextBox 5"/>
          <p:cNvSpPr txBox="1"/>
          <p:nvPr/>
        </p:nvSpPr>
        <p:spPr>
          <a:xfrm>
            <a:off x="731520" y="1325880"/>
            <a:ext cx="10515600" cy="548640"/>
          </a:xfrm>
          <a:prstGeom prst="rect">
            <a:avLst/>
          </a:prstGeom>
          <a:noFill/>
        </p:spPr>
        <p:txBody>
          <a:bodyPr wrap="square" lIns="36576" rIns="36576" tIns="36576" bIns="36576" anchor="t">
            <a:spAutoFit/>
          </a:bodyPr>
          <a:lstStyle/>
          <a:p>
            <a:pPr algn="ctr"/>
            <a:r>
              <a:rPr sz="2800" b="1">
                <a:solidFill>
                  <a:srgbClr val="0A3422"/>
                </a:solidFill>
                <a:latin typeface="Aptos"/>
              </a:rPr>
              <a:t>Heritage Guard bridges the past and the future.</a:t>
            </a:r>
          </a:p>
        </p:txBody>
      </p:sp>
      <p:sp>
        <p:nvSpPr>
          <p:cNvPr id="7" name="TextBox 6"/>
          <p:cNvSpPr txBox="1"/>
          <p:nvPr/>
        </p:nvSpPr>
        <p:spPr>
          <a:xfrm>
            <a:off x="1097280" y="2194560"/>
            <a:ext cx="9966960" cy="1417320"/>
          </a:xfrm>
          <a:prstGeom prst="rect">
            <a:avLst/>
          </a:prstGeom>
          <a:noFill/>
        </p:spPr>
        <p:txBody>
          <a:bodyPr wrap="square" lIns="36576" rIns="36576" tIns="36576" bIns="36576" anchor="t">
            <a:spAutoFit/>
          </a:bodyPr>
          <a:lstStyle/>
          <a:p>
            <a:pPr algn="ctr"/>
            <a:r>
              <a:rPr sz="1700" b="0">
                <a:solidFill>
                  <a:srgbClr val="232B26"/>
                </a:solidFill>
                <a:latin typeface="Aptos"/>
              </a:rPr>
              <a:t>By addressing theft, transport damage and fragmented record-keeping, Heritage Guard empowers archaeologists, museum workers and security teams to work collaboratively. Unique artifact codes, real-time status tracking, thoughtful UI and a digital chain of custody turn everyday documentation into a clear, shared system.</a:t>
            </a:r>
          </a:p>
        </p:txBody>
      </p:sp>
      <p:sp>
        <p:nvSpPr>
          <p:cNvPr id="8" name="Rounded Rectangle 7"/>
          <p:cNvSpPr/>
          <p:nvPr/>
        </p:nvSpPr>
        <p:spPr>
          <a:xfrm>
            <a:off x="1005840" y="4069080"/>
            <a:ext cx="10149840" cy="1051560"/>
          </a:xfrm>
          <a:prstGeom prst="roundRect">
            <a:avLst>
              <a:gd name="adj" fmla="val 12000"/>
            </a:avLst>
          </a:prstGeom>
          <a:solidFill>
            <a:srgbClr val="FCF6E1"/>
          </a:solidFill>
          <a:ln>
            <a:solidFill>
              <a:srgbClr val="FCF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4270248"/>
            <a:ext cx="9692640" cy="640080"/>
          </a:xfrm>
          <a:prstGeom prst="rect">
            <a:avLst/>
          </a:prstGeom>
          <a:noFill/>
        </p:spPr>
        <p:txBody>
          <a:bodyPr wrap="square" lIns="36576" rIns="36576" tIns="36576" bIns="36576" anchor="t">
            <a:spAutoFit/>
          </a:bodyPr>
          <a:lstStyle/>
          <a:p>
            <a:pPr algn="ctr"/>
            <a:r>
              <a:rPr sz="2300" b="1">
                <a:solidFill>
                  <a:srgbClr val="B25B3E"/>
                </a:solidFill>
                <a:latin typeface="Aptos"/>
              </a:rPr>
              <a:t>SECURE THE DISCOVERY.
PRESERVE THE STORY.</a:t>
            </a:r>
          </a:p>
        </p:txBody>
      </p:sp>
      <p:sp>
        <p:nvSpPr>
          <p:cNvPr id="10" name="TextBox 9"/>
          <p:cNvSpPr txBox="1"/>
          <p:nvPr/>
        </p:nvSpPr>
        <p:spPr>
          <a:xfrm>
            <a:off x="731520" y="5715000"/>
            <a:ext cx="10515600" cy="457200"/>
          </a:xfrm>
          <a:prstGeom prst="rect">
            <a:avLst/>
          </a:prstGeom>
          <a:noFill/>
        </p:spPr>
        <p:txBody>
          <a:bodyPr wrap="square" lIns="36576" rIns="36576" tIns="36576" bIns="36576" anchor="t">
            <a:spAutoFit/>
          </a:bodyPr>
          <a:lstStyle/>
          <a:p>
            <a:pPr algn="ctr"/>
            <a:r>
              <a:rPr sz="2000" b="1">
                <a:solidFill>
                  <a:srgbClr val="135334"/>
                </a:solidFill>
                <a:latin typeface="Aptos"/>
              </a:rPr>
              <a:t>Thank you</a:t>
            </a:r>
          </a:p>
        </p:txBody>
      </p:sp>
      <p:sp>
        <p:nvSpPr>
          <p:cNvPr id="11" name="TextBox 10"/>
          <p:cNvSpPr txBox="1"/>
          <p:nvPr/>
        </p:nvSpPr>
        <p:spPr>
          <a:xfrm>
            <a:off x="731520" y="6199632"/>
            <a:ext cx="10515600" cy="274320"/>
          </a:xfrm>
          <a:prstGeom prst="rect">
            <a:avLst/>
          </a:prstGeom>
          <a:noFill/>
        </p:spPr>
        <p:txBody>
          <a:bodyPr wrap="square" lIns="36576" rIns="36576" tIns="36576" bIns="36576" anchor="t">
            <a:spAutoFit/>
          </a:bodyPr>
          <a:lstStyle/>
          <a:p>
            <a:pPr algn="ctr"/>
            <a:r>
              <a:rPr sz="1000" b="0">
                <a:solidFill>
                  <a:srgbClr val="606962"/>
                </a:solidFill>
                <a:latin typeface="Aptos"/>
              </a:rPr>
              <a:t>HERITAGE GUARD  •  Securing the Past for the Future</a:t>
            </a:r>
          </a:p>
        </p:txBody>
      </p:sp>
      <p:sp>
        <p:nvSpPr>
          <p:cNvPr id="12" name="TextBox 11"/>
          <p:cNvSpPr txBox="1"/>
          <p:nvPr/>
        </p:nvSpPr>
        <p:spPr>
          <a:xfrm>
            <a:off x="621792" y="6510528"/>
            <a:ext cx="7772400" cy="182880"/>
          </a:xfrm>
          <a:prstGeom prst="rect">
            <a:avLst/>
          </a:prstGeom>
          <a:noFill/>
        </p:spPr>
        <p:txBody>
          <a:bodyPr wrap="square" lIns="36576" rIns="36576" tIns="36576" bIns="36576" anchor="t">
            <a:spAutoFit/>
          </a:bodyPr>
          <a:lstStyle/>
          <a:p>
            <a:pPr algn="l"/>
            <a:r>
              <a:rPr sz="800" b="0">
                <a:solidFill>
                  <a:srgbClr val="606962"/>
                </a:solidFill>
                <a:latin typeface="Aptos"/>
              </a:rPr>
              <a:t>HERITAGE GUARD  •  Securing the Past for the Future</a:t>
            </a:r>
          </a:p>
        </p:txBody>
      </p:sp>
      <p:sp>
        <p:nvSpPr>
          <p:cNvPr id="13" name="Rectangle 12"/>
          <p:cNvSpPr/>
          <p:nvPr/>
        </p:nvSpPr>
        <p:spPr>
          <a:xfrm>
            <a:off x="9875520" y="6537960"/>
            <a:ext cx="1691640" cy="27432"/>
          </a:xfrm>
          <a:prstGeom prst="rect">
            <a:avLst/>
          </a:prstGeom>
          <a:solidFill>
            <a:srgbClr val="D2A437"/>
          </a:solidFill>
          <a:ln>
            <a:solidFill>
              <a:srgbClr val="D2A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